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MS)" panose="020B0604020202020204" charset="0"/>
      <p:regular r:id="rId11"/>
    </p:embeddedFont>
    <p:embeddedFont>
      <p:font typeface="Calibri (MS) Bold" panose="020B0604020202020204" charset="0"/>
      <p:regular r:id="rId12"/>
    </p:embeddedFont>
    <p:embeddedFont>
      <p:font typeface="Canva Sans" panose="020B0604020202020204" charset="0"/>
      <p:regular r:id="rId13"/>
    </p:embeddedFont>
    <p:embeddedFont>
      <p:font typeface="Canva Sans Bold" panose="020B0604020202020204" charset="0"/>
      <p:regular r:id="rId14"/>
    </p:embeddedFont>
    <p:embeddedFont>
      <p:font typeface="Canva Sans Medium" panose="020B0604020202020204" charset="0"/>
      <p:regular r:id="rId15"/>
    </p:embeddedFont>
    <p:embeddedFont>
      <p:font typeface="Times New Roman MT" panose="020B0604020202020204" charset="0"/>
      <p:regular r:id="rId16"/>
    </p:embeddedFont>
    <p:embeddedFont>
      <p:font typeface="Times New Roman MT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8453104" y="4100798"/>
            <a:ext cx="93897" cy="537772"/>
          </a:xfrm>
          <a:prstGeom prst="rect">
            <a:avLst/>
          </a:prstGeom>
        </p:spPr>
        <p:txBody>
          <a:bodyPr lIns="0" tIns="0" rIns="0" bIns="0" rtlCol="0" anchor="t">
            <a:spAutoFit/>
          </a:bodyPr>
          <a:lstStyle/>
          <a:p>
            <a:pPr algn="l">
              <a:lnSpc>
                <a:spcPts val="4059"/>
              </a:lnSpc>
            </a:pPr>
            <a:r>
              <a:rPr lang="en-US" sz="2899" b="1">
                <a:solidFill>
                  <a:srgbClr val="000000"/>
                </a:solidFill>
                <a:latin typeface="Times New Roman MT Bold"/>
                <a:ea typeface="Times New Roman MT Bold"/>
                <a:cs typeface="Times New Roman MT Bold"/>
                <a:sym typeface="Times New Roman MT Bold"/>
              </a:rPr>
              <a:t> </a:t>
            </a:r>
          </a:p>
        </p:txBody>
      </p:sp>
      <p:sp>
        <p:nvSpPr>
          <p:cNvPr id="4" name="TextBox 4"/>
          <p:cNvSpPr txBox="1"/>
          <p:nvPr/>
        </p:nvSpPr>
        <p:spPr>
          <a:xfrm>
            <a:off x="7404068" y="3648751"/>
            <a:ext cx="3607679" cy="499672"/>
          </a:xfrm>
          <a:prstGeom prst="rect">
            <a:avLst/>
          </a:prstGeom>
        </p:spPr>
        <p:txBody>
          <a:bodyPr lIns="0" tIns="0" rIns="0" bIns="0" rtlCol="0" anchor="t">
            <a:spAutoFit/>
          </a:bodyPr>
          <a:lstStyle/>
          <a:p>
            <a:pPr algn="l">
              <a:lnSpc>
                <a:spcPts val="3673"/>
              </a:lnSpc>
            </a:pPr>
            <a:r>
              <a:rPr lang="en-US" sz="2899" b="1">
                <a:solidFill>
                  <a:srgbClr val="000000"/>
                </a:solidFill>
                <a:latin typeface="Times New Roman MT Bold"/>
                <a:ea typeface="Times New Roman MT Bold"/>
                <a:cs typeface="Times New Roman MT Bold"/>
                <a:sym typeface="Times New Roman MT Bold"/>
              </a:rPr>
              <a:t>CourseCode &amp;Name :</a:t>
            </a:r>
          </a:p>
        </p:txBody>
      </p:sp>
      <p:sp>
        <p:nvSpPr>
          <p:cNvPr id="5" name="TextBox 5"/>
          <p:cNvSpPr txBox="1"/>
          <p:nvPr/>
        </p:nvSpPr>
        <p:spPr>
          <a:xfrm>
            <a:off x="6070931" y="6110573"/>
            <a:ext cx="6532959" cy="842572"/>
          </a:xfrm>
          <a:prstGeom prst="rect">
            <a:avLst/>
          </a:prstGeom>
        </p:spPr>
        <p:txBody>
          <a:bodyPr lIns="0" tIns="0" rIns="0" bIns="0" rtlCol="0" anchor="t">
            <a:spAutoFit/>
          </a:bodyPr>
          <a:lstStyle/>
          <a:p>
            <a:pPr algn="l">
              <a:lnSpc>
                <a:spcPts val="7248"/>
              </a:lnSpc>
            </a:pPr>
            <a:r>
              <a:rPr lang="en-US" sz="2899" b="1">
                <a:solidFill>
                  <a:srgbClr val="000000"/>
                </a:solidFill>
                <a:latin typeface="Times New Roman MT Bold"/>
                <a:ea typeface="Times New Roman MT Bold"/>
                <a:cs typeface="Times New Roman MT Bold"/>
                <a:sym typeface="Times New Roman MT Bold"/>
              </a:rPr>
              <a:t>Student Name(s) and Register Number(s):</a:t>
            </a:r>
          </a:p>
        </p:txBody>
      </p:sp>
      <p:sp>
        <p:nvSpPr>
          <p:cNvPr id="6" name="TextBox 6"/>
          <p:cNvSpPr txBox="1"/>
          <p:nvPr/>
        </p:nvSpPr>
        <p:spPr>
          <a:xfrm>
            <a:off x="5192820" y="7296229"/>
            <a:ext cx="8623478" cy="598947"/>
          </a:xfrm>
          <a:prstGeom prst="rect">
            <a:avLst/>
          </a:prstGeom>
        </p:spPr>
        <p:txBody>
          <a:bodyPr lIns="0" tIns="0" rIns="0" bIns="0" rtlCol="0" anchor="t">
            <a:spAutoFit/>
          </a:bodyPr>
          <a:lstStyle/>
          <a:p>
            <a:pPr algn="ctr">
              <a:lnSpc>
                <a:spcPts val="1449"/>
              </a:lnSpc>
            </a:pPr>
            <a:r>
              <a:rPr lang="en-US" sz="2899" b="1" dirty="0">
                <a:solidFill>
                  <a:srgbClr val="000000"/>
                </a:solidFill>
                <a:latin typeface="Times New Roman MT Bold"/>
                <a:ea typeface="Times New Roman MT Bold"/>
                <a:cs typeface="Times New Roman MT Bold"/>
                <a:sym typeface="Times New Roman MT Bold"/>
              </a:rPr>
              <a:t>1.</a:t>
            </a:r>
            <a:r>
              <a:rPr lang="en-US" sz="2899" dirty="0">
                <a:solidFill>
                  <a:srgbClr val="000000"/>
                </a:solidFill>
                <a:latin typeface="Times New Roman MT"/>
                <a:ea typeface="Times New Roman MT"/>
                <a:cs typeface="Times New Roman MT"/>
                <a:sym typeface="Times New Roman MT"/>
              </a:rPr>
              <a:t>Abdullah.E (RA2411047050060)</a:t>
            </a:r>
          </a:p>
          <a:p>
            <a:pPr algn="ctr">
              <a:lnSpc>
                <a:spcPts val="1449"/>
              </a:lnSpc>
            </a:pPr>
            <a:endParaRPr lang="en-US" sz="2899" dirty="0">
              <a:solidFill>
                <a:srgbClr val="000000"/>
              </a:solidFill>
              <a:latin typeface="Times New Roman MT"/>
              <a:ea typeface="Times New Roman MT"/>
              <a:cs typeface="Times New Roman MT"/>
              <a:sym typeface="Times New Roman MT"/>
            </a:endParaRPr>
          </a:p>
          <a:p>
            <a:pPr algn="ctr">
              <a:lnSpc>
                <a:spcPts val="1449"/>
              </a:lnSpc>
            </a:pPr>
            <a:endParaRPr lang="en-US" sz="2899" dirty="0">
              <a:solidFill>
                <a:srgbClr val="000000"/>
              </a:solidFill>
              <a:latin typeface="Times New Roman MT"/>
              <a:ea typeface="Times New Roman MT"/>
              <a:cs typeface="Times New Roman MT"/>
              <a:sym typeface="Times New Roman MT"/>
            </a:endParaRPr>
          </a:p>
        </p:txBody>
      </p:sp>
      <p:sp>
        <p:nvSpPr>
          <p:cNvPr id="7" name="TextBox 7"/>
          <p:cNvSpPr txBox="1"/>
          <p:nvPr/>
        </p:nvSpPr>
        <p:spPr>
          <a:xfrm>
            <a:off x="5816260" y="7186898"/>
            <a:ext cx="111662" cy="1185472"/>
          </a:xfrm>
          <a:prstGeom prst="rect">
            <a:avLst/>
          </a:prstGeom>
        </p:spPr>
        <p:txBody>
          <a:bodyPr lIns="0" tIns="0" rIns="0" bIns="0" rtlCol="0" anchor="t">
            <a:spAutoFit/>
          </a:bodyPr>
          <a:lstStyle/>
          <a:p>
            <a:pPr algn="just">
              <a:lnSpc>
                <a:spcPts val="5900"/>
              </a:lnSpc>
            </a:pPr>
            <a:r>
              <a:rPr lang="en-US" sz="2899" b="1">
                <a:solidFill>
                  <a:srgbClr val="000000"/>
                </a:solidFill>
                <a:latin typeface="Times New Roman MT Bold"/>
                <a:ea typeface="Times New Roman MT Bold"/>
                <a:cs typeface="Times New Roman MT Bold"/>
                <a:sym typeface="Times New Roman MT Bold"/>
              </a:rPr>
              <a:t> </a:t>
            </a:r>
          </a:p>
          <a:p>
            <a:pPr algn="just">
              <a:lnSpc>
                <a:spcPts val="1449"/>
              </a:lnSpc>
            </a:pPr>
            <a:r>
              <a:rPr lang="en-US" sz="2899" b="1">
                <a:solidFill>
                  <a:srgbClr val="000000"/>
                </a:solidFill>
                <a:latin typeface="Times New Roman MT Bold"/>
                <a:ea typeface="Times New Roman MT Bold"/>
                <a:cs typeface="Times New Roman MT Bold"/>
                <a:sym typeface="Times New Roman MT Bold"/>
              </a:rPr>
              <a:t> </a:t>
            </a:r>
          </a:p>
        </p:txBody>
      </p:sp>
      <p:sp>
        <p:nvSpPr>
          <p:cNvPr id="8" name="TextBox 8"/>
          <p:cNvSpPr txBox="1"/>
          <p:nvPr/>
        </p:nvSpPr>
        <p:spPr>
          <a:xfrm>
            <a:off x="5434222" y="8425148"/>
            <a:ext cx="7567755" cy="1675152"/>
          </a:xfrm>
          <a:prstGeom prst="rect">
            <a:avLst/>
          </a:prstGeom>
        </p:spPr>
        <p:txBody>
          <a:bodyPr lIns="0" tIns="0" rIns="0" bIns="0" rtlCol="0" anchor="t">
            <a:spAutoFit/>
          </a:bodyPr>
          <a:lstStyle/>
          <a:p>
            <a:pPr algn="ctr">
              <a:lnSpc>
                <a:spcPts val="7248"/>
              </a:lnSpc>
            </a:pPr>
            <a:r>
              <a:rPr lang="en-US" sz="2899" b="1">
                <a:solidFill>
                  <a:srgbClr val="000000"/>
                </a:solidFill>
                <a:latin typeface="Times New Roman MT Bold"/>
                <a:ea typeface="Times New Roman MT Bold"/>
                <a:cs typeface="Times New Roman MT Bold"/>
                <a:sym typeface="Times New Roman MT Bold"/>
              </a:rPr>
              <a:t>Department Name: </a:t>
            </a:r>
            <a:r>
              <a:rPr lang="en-US" sz="2899">
                <a:solidFill>
                  <a:srgbClr val="000000"/>
                </a:solidFill>
                <a:latin typeface="Times New Roman MT"/>
                <a:ea typeface="Times New Roman MT"/>
                <a:cs typeface="Times New Roman MT"/>
                <a:sym typeface="Times New Roman MT"/>
              </a:rPr>
              <a:t>B.tech Artificial Intelligence</a:t>
            </a:r>
          </a:p>
          <a:p>
            <a:pPr algn="ctr">
              <a:lnSpc>
                <a:spcPts val="2100"/>
              </a:lnSpc>
            </a:pPr>
            <a:r>
              <a:rPr lang="en-US" sz="1800">
                <a:solidFill>
                  <a:srgbClr val="898989"/>
                </a:solidFill>
                <a:latin typeface="Calibri (MS)"/>
                <a:ea typeface="Calibri (MS)"/>
                <a:cs typeface="Calibri (MS)"/>
                <a:sym typeface="Calibri (MS)"/>
              </a:rPr>
              <a:t>School of Computing - SRM Institute of Science &amp; Technology, Tiruchirappalli</a:t>
            </a:r>
          </a:p>
        </p:txBody>
      </p:sp>
      <p:sp>
        <p:nvSpPr>
          <p:cNvPr id="9" name="TextBox 9"/>
          <p:cNvSpPr txBox="1"/>
          <p:nvPr/>
        </p:nvSpPr>
        <p:spPr>
          <a:xfrm>
            <a:off x="1257300" y="9617392"/>
            <a:ext cx="1066919" cy="344805"/>
          </a:xfrm>
          <a:prstGeom prst="rect">
            <a:avLst/>
          </a:prstGeom>
        </p:spPr>
        <p:txBody>
          <a:bodyPr lIns="0" tIns="0" rIns="0" bIns="0" rtlCol="0" anchor="t">
            <a:spAutoFit/>
          </a:bodyPr>
          <a:lstStyle/>
          <a:p>
            <a:pPr algn="l">
              <a:lnSpc>
                <a:spcPts val="2520"/>
              </a:lnSpc>
            </a:pPr>
            <a:r>
              <a:rPr lang="en-US" sz="1800">
                <a:solidFill>
                  <a:srgbClr val="898989"/>
                </a:solidFill>
                <a:latin typeface="Calibri (MS)"/>
                <a:ea typeface="Calibri (MS)"/>
                <a:cs typeface="Calibri (MS)"/>
                <a:sym typeface="Calibri (MS)"/>
              </a:rPr>
              <a:t>24-01-2026</a:t>
            </a:r>
          </a:p>
        </p:txBody>
      </p:sp>
      <p:sp>
        <p:nvSpPr>
          <p:cNvPr id="10" name="TextBox 10"/>
          <p:cNvSpPr txBox="1"/>
          <p:nvPr/>
        </p:nvSpPr>
        <p:spPr>
          <a:xfrm>
            <a:off x="16914762" y="9617393"/>
            <a:ext cx="118177" cy="339090"/>
          </a:xfrm>
          <a:prstGeom prst="rect">
            <a:avLst/>
          </a:prstGeom>
        </p:spPr>
        <p:txBody>
          <a:bodyPr lIns="0" tIns="0" rIns="0" bIns="0" rtlCol="0" anchor="t">
            <a:spAutoFit/>
          </a:bodyPr>
          <a:lstStyle/>
          <a:p>
            <a:pPr algn="l">
              <a:lnSpc>
                <a:spcPts val="2520"/>
              </a:lnSpc>
            </a:pPr>
            <a:r>
              <a:rPr lang="en-US" sz="1800">
                <a:solidFill>
                  <a:srgbClr val="898989"/>
                </a:solidFill>
                <a:latin typeface="Calibri (MS)"/>
                <a:ea typeface="Calibri (MS)"/>
                <a:cs typeface="Calibri (MS)"/>
                <a:sym typeface="Calibri (MS)"/>
              </a:rPr>
              <a:t>1</a:t>
            </a:r>
          </a:p>
        </p:txBody>
      </p:sp>
      <p:sp>
        <p:nvSpPr>
          <p:cNvPr id="11" name="TextBox 11"/>
          <p:cNvSpPr txBox="1"/>
          <p:nvPr/>
        </p:nvSpPr>
        <p:spPr>
          <a:xfrm>
            <a:off x="2345512" y="772129"/>
            <a:ext cx="15942488" cy="2457373"/>
          </a:xfrm>
          <a:prstGeom prst="rect">
            <a:avLst/>
          </a:prstGeom>
        </p:spPr>
        <p:txBody>
          <a:bodyPr lIns="0" tIns="0" rIns="0" bIns="0" rtlCol="0" anchor="t">
            <a:spAutoFit/>
          </a:bodyPr>
          <a:lstStyle/>
          <a:p>
            <a:pPr algn="ctr">
              <a:lnSpc>
                <a:spcPts val="9899"/>
              </a:lnSpc>
            </a:pPr>
            <a:r>
              <a:rPr lang="en-US" sz="7070" b="1">
                <a:solidFill>
                  <a:srgbClr val="000000"/>
                </a:solidFill>
                <a:latin typeface="Canva Sans Bold"/>
                <a:ea typeface="Canva Sans Bold"/>
                <a:cs typeface="Canva Sans Bold"/>
                <a:sym typeface="Canva Sans Bold"/>
              </a:rPr>
              <a:t>Urban Waste recycling optimization system</a:t>
            </a:r>
          </a:p>
        </p:txBody>
      </p:sp>
      <p:sp>
        <p:nvSpPr>
          <p:cNvPr id="12" name="TextBox 12"/>
          <p:cNvSpPr txBox="1"/>
          <p:nvPr/>
        </p:nvSpPr>
        <p:spPr>
          <a:xfrm>
            <a:off x="4774638" y="4234984"/>
            <a:ext cx="9125545" cy="1646968"/>
          </a:xfrm>
          <a:prstGeom prst="rect">
            <a:avLst/>
          </a:prstGeom>
        </p:spPr>
        <p:txBody>
          <a:bodyPr lIns="0" tIns="0" rIns="0" bIns="0" rtlCol="0" anchor="t">
            <a:spAutoFit/>
          </a:bodyPr>
          <a:lstStyle/>
          <a:p>
            <a:pPr algn="ctr">
              <a:lnSpc>
                <a:spcPts val="4247"/>
              </a:lnSpc>
            </a:pPr>
            <a:r>
              <a:rPr lang="en-US" sz="3033" b="1">
                <a:solidFill>
                  <a:srgbClr val="000000"/>
                </a:solidFill>
                <a:latin typeface="Times New Roman MT Bold"/>
                <a:ea typeface="Times New Roman MT Bold"/>
                <a:cs typeface="Times New Roman MT Bold"/>
                <a:sym typeface="Times New Roman MT Bold"/>
              </a:rPr>
              <a:t>1.</a:t>
            </a:r>
            <a:r>
              <a:rPr lang="en-US" sz="3033">
                <a:solidFill>
                  <a:srgbClr val="000000"/>
                </a:solidFill>
                <a:latin typeface="Times New Roman MT"/>
                <a:ea typeface="Times New Roman MT"/>
                <a:cs typeface="Times New Roman MT"/>
                <a:sym typeface="Times New Roman MT"/>
              </a:rPr>
              <a:t>21CSC202J - Operating System,</a:t>
            </a:r>
          </a:p>
          <a:p>
            <a:pPr algn="ctr">
              <a:lnSpc>
                <a:spcPts val="4247"/>
              </a:lnSpc>
            </a:pPr>
            <a:r>
              <a:rPr lang="en-US" sz="3033" b="1">
                <a:solidFill>
                  <a:srgbClr val="000000"/>
                </a:solidFill>
                <a:latin typeface="Times New Roman MT Bold"/>
                <a:ea typeface="Times New Roman MT Bold"/>
                <a:cs typeface="Times New Roman MT Bold"/>
                <a:sym typeface="Times New Roman MT Bold"/>
              </a:rPr>
              <a:t>2.</a:t>
            </a:r>
            <a:r>
              <a:rPr lang="en-US" sz="3033">
                <a:solidFill>
                  <a:srgbClr val="000000"/>
                </a:solidFill>
                <a:latin typeface="Times New Roman MT"/>
                <a:ea typeface="Times New Roman MT"/>
                <a:cs typeface="Times New Roman MT"/>
                <a:sym typeface="Times New Roman MT"/>
              </a:rPr>
              <a:t>212AIS201J - Foundation Of Artificial Intelligence</a:t>
            </a:r>
          </a:p>
          <a:p>
            <a:pPr algn="ctr">
              <a:lnSpc>
                <a:spcPts val="4247"/>
              </a:lnSpc>
              <a:spcBef>
                <a:spcPct val="0"/>
              </a:spcBef>
            </a:pPr>
            <a:r>
              <a:rPr lang="en-US" sz="3033" b="1">
                <a:solidFill>
                  <a:srgbClr val="000000"/>
                </a:solidFill>
                <a:latin typeface="Times New Roman MT Bold"/>
                <a:ea typeface="Times New Roman MT Bold"/>
                <a:cs typeface="Times New Roman MT Bold"/>
                <a:sym typeface="Times New Roman MT Bold"/>
              </a:rPr>
              <a:t>3.</a:t>
            </a:r>
            <a:r>
              <a:rPr lang="en-US" sz="3033">
                <a:solidFill>
                  <a:srgbClr val="000000"/>
                </a:solidFill>
                <a:latin typeface="Times New Roman MT"/>
                <a:ea typeface="Times New Roman MT"/>
                <a:cs typeface="Times New Roman MT"/>
                <a:sym typeface="Times New Roman MT"/>
              </a:rPr>
              <a:t>21AIC202J - Neural Networks and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34307" y="925506"/>
            <a:ext cx="4590931" cy="1007212"/>
          </a:xfrm>
          <a:prstGeom prst="rect">
            <a:avLst/>
          </a:prstGeom>
        </p:spPr>
        <p:txBody>
          <a:bodyPr lIns="0" tIns="0" rIns="0" bIns="0" rtlCol="0" anchor="t">
            <a:spAutoFit/>
          </a:bodyPr>
          <a:lstStyle/>
          <a:p>
            <a:pPr algn="l">
              <a:lnSpc>
                <a:spcPts val="6514"/>
              </a:lnSpc>
            </a:pPr>
            <a:r>
              <a:rPr lang="en-US" sz="6600" b="1">
                <a:solidFill>
                  <a:srgbClr val="000000"/>
                </a:solidFill>
                <a:latin typeface="Calibri (MS) Bold"/>
                <a:ea typeface="Calibri (MS) Bold"/>
                <a:cs typeface="Calibri (MS) Bold"/>
                <a:sym typeface="Calibri (MS) Bold"/>
              </a:rPr>
              <a:t>Introduction:</a:t>
            </a:r>
          </a:p>
        </p:txBody>
      </p:sp>
      <p:sp>
        <p:nvSpPr>
          <p:cNvPr id="3" name="TextBox 3"/>
          <p:cNvSpPr txBox="1"/>
          <p:nvPr/>
        </p:nvSpPr>
        <p:spPr>
          <a:xfrm>
            <a:off x="1799130" y="1226820"/>
            <a:ext cx="106070" cy="945071"/>
          </a:xfrm>
          <a:prstGeom prst="rect">
            <a:avLst/>
          </a:prstGeom>
        </p:spPr>
        <p:txBody>
          <a:bodyPr lIns="0" tIns="0" rIns="0" bIns="0" rtlCol="0" anchor="t">
            <a:spAutoFit/>
          </a:bodyPr>
          <a:lstStyle/>
          <a:p>
            <a:pPr algn="l">
              <a:lnSpc>
                <a:spcPts val="8188"/>
              </a:lnSpc>
            </a:pPr>
            <a:r>
              <a:rPr lang="en-US" sz="3275" b="1">
                <a:solidFill>
                  <a:srgbClr val="000000"/>
                </a:solidFill>
                <a:latin typeface="Times New Roman MT Bold"/>
                <a:ea typeface="Times New Roman MT Bold"/>
                <a:cs typeface="Times New Roman MT Bold"/>
                <a:sym typeface="Times New Roman MT Bold"/>
              </a:rPr>
              <a:t> </a:t>
            </a:r>
          </a:p>
        </p:txBody>
      </p:sp>
      <p:sp>
        <p:nvSpPr>
          <p:cNvPr id="4" name="TextBox 4"/>
          <p:cNvSpPr txBox="1"/>
          <p:nvPr/>
        </p:nvSpPr>
        <p:spPr>
          <a:xfrm>
            <a:off x="1005964" y="7886805"/>
            <a:ext cx="93097" cy="515112"/>
          </a:xfrm>
          <a:prstGeom prst="rect">
            <a:avLst/>
          </a:prstGeom>
        </p:spPr>
        <p:txBody>
          <a:bodyPr lIns="0" tIns="0" rIns="0" bIns="0" rtlCol="0" anchor="t">
            <a:spAutoFit/>
          </a:bodyPr>
          <a:lstStyle/>
          <a:p>
            <a:pPr algn="l">
              <a:lnSpc>
                <a:spcPts val="3837"/>
              </a:lnSpc>
            </a:pPr>
            <a:r>
              <a:rPr lang="en-US" sz="2874">
                <a:solidFill>
                  <a:srgbClr val="000000"/>
                </a:solidFill>
                <a:latin typeface="Times New Roman MT"/>
                <a:ea typeface="Times New Roman MT"/>
                <a:cs typeface="Times New Roman MT"/>
                <a:sym typeface="Times New Roman MT"/>
              </a:rPr>
              <a:t> </a:t>
            </a:r>
          </a:p>
        </p:txBody>
      </p:sp>
      <p:sp>
        <p:nvSpPr>
          <p:cNvPr id="5" name="TextBox 5"/>
          <p:cNvSpPr txBox="1"/>
          <p:nvPr/>
        </p:nvSpPr>
        <p:spPr>
          <a:xfrm>
            <a:off x="1262710" y="2152755"/>
            <a:ext cx="93097" cy="515112"/>
          </a:xfrm>
          <a:prstGeom prst="rect">
            <a:avLst/>
          </a:prstGeom>
        </p:spPr>
        <p:txBody>
          <a:bodyPr lIns="0" tIns="0" rIns="0" bIns="0" rtlCol="0" anchor="t">
            <a:spAutoFit/>
          </a:bodyPr>
          <a:lstStyle/>
          <a:p>
            <a:pPr algn="l">
              <a:lnSpc>
                <a:spcPts val="3837"/>
              </a:lnSpc>
            </a:pPr>
            <a:r>
              <a:rPr lang="en-US" sz="2874">
                <a:solidFill>
                  <a:srgbClr val="000000"/>
                </a:solidFill>
                <a:latin typeface="Times New Roman MT"/>
                <a:ea typeface="Times New Roman MT"/>
                <a:cs typeface="Times New Roman MT"/>
                <a:sym typeface="Times New Roman MT"/>
              </a:rPr>
              <a:t> </a:t>
            </a:r>
          </a:p>
        </p:txBody>
      </p:sp>
      <p:sp>
        <p:nvSpPr>
          <p:cNvPr id="6" name="TextBox 6"/>
          <p:cNvSpPr txBox="1"/>
          <p:nvPr/>
        </p:nvSpPr>
        <p:spPr>
          <a:xfrm>
            <a:off x="2519343" y="4086330"/>
            <a:ext cx="93097" cy="515112"/>
          </a:xfrm>
          <a:prstGeom prst="rect">
            <a:avLst/>
          </a:prstGeom>
        </p:spPr>
        <p:txBody>
          <a:bodyPr lIns="0" tIns="0" rIns="0" bIns="0" rtlCol="0" anchor="t">
            <a:spAutoFit/>
          </a:bodyPr>
          <a:lstStyle/>
          <a:p>
            <a:pPr algn="l">
              <a:lnSpc>
                <a:spcPts val="3837"/>
              </a:lnSpc>
            </a:pPr>
            <a:r>
              <a:rPr lang="en-US" sz="2874">
                <a:solidFill>
                  <a:srgbClr val="000000"/>
                </a:solidFill>
                <a:latin typeface="Times New Roman MT"/>
                <a:ea typeface="Times New Roman MT"/>
                <a:cs typeface="Times New Roman MT"/>
                <a:sym typeface="Times New Roman MT"/>
              </a:rPr>
              <a:t> </a:t>
            </a:r>
          </a:p>
        </p:txBody>
      </p:sp>
      <p:sp>
        <p:nvSpPr>
          <p:cNvPr id="7" name="TextBox 7"/>
          <p:cNvSpPr txBox="1"/>
          <p:nvPr/>
        </p:nvSpPr>
        <p:spPr>
          <a:xfrm>
            <a:off x="1257300" y="9617392"/>
            <a:ext cx="1066919" cy="344805"/>
          </a:xfrm>
          <a:prstGeom prst="rect">
            <a:avLst/>
          </a:prstGeom>
        </p:spPr>
        <p:txBody>
          <a:bodyPr lIns="0" tIns="0" rIns="0" bIns="0" rtlCol="0" anchor="t">
            <a:spAutoFit/>
          </a:bodyPr>
          <a:lstStyle/>
          <a:p>
            <a:pPr algn="l">
              <a:lnSpc>
                <a:spcPts val="2520"/>
              </a:lnSpc>
            </a:pPr>
            <a:r>
              <a:rPr lang="en-US" sz="1800">
                <a:solidFill>
                  <a:srgbClr val="898989"/>
                </a:solidFill>
                <a:latin typeface="Calibri (MS)"/>
                <a:ea typeface="Calibri (MS)"/>
                <a:cs typeface="Calibri (MS)"/>
                <a:sym typeface="Calibri (MS)"/>
              </a:rPr>
              <a:t>24-01-2026</a:t>
            </a:r>
          </a:p>
        </p:txBody>
      </p:sp>
      <p:sp>
        <p:nvSpPr>
          <p:cNvPr id="8" name="TextBox 8"/>
          <p:cNvSpPr txBox="1"/>
          <p:nvPr/>
        </p:nvSpPr>
        <p:spPr>
          <a:xfrm>
            <a:off x="6274441" y="9522143"/>
            <a:ext cx="5853665" cy="567690"/>
          </a:xfrm>
          <a:prstGeom prst="rect">
            <a:avLst/>
          </a:prstGeom>
        </p:spPr>
        <p:txBody>
          <a:bodyPr lIns="0" tIns="0" rIns="0" bIns="0" rtlCol="0" anchor="t">
            <a:spAutoFit/>
          </a:bodyPr>
          <a:lstStyle/>
          <a:p>
            <a:pPr algn="ctr">
              <a:lnSpc>
                <a:spcPts val="2100"/>
              </a:lnSpc>
            </a:pPr>
            <a:r>
              <a:rPr lang="en-US" sz="1800">
                <a:solidFill>
                  <a:srgbClr val="898989"/>
                </a:solidFill>
                <a:latin typeface="Calibri (MS)"/>
                <a:ea typeface="Calibri (MS)"/>
                <a:cs typeface="Calibri (MS)"/>
                <a:sym typeface="Calibri (MS)"/>
              </a:rPr>
              <a:t>School of Computing - SRM Institute of Science &amp; Technology, Tiruchirappalli</a:t>
            </a:r>
          </a:p>
        </p:txBody>
      </p:sp>
      <p:sp>
        <p:nvSpPr>
          <p:cNvPr id="9" name="TextBox 9"/>
          <p:cNvSpPr txBox="1"/>
          <p:nvPr/>
        </p:nvSpPr>
        <p:spPr>
          <a:xfrm>
            <a:off x="16914762" y="9617393"/>
            <a:ext cx="118177" cy="339090"/>
          </a:xfrm>
          <a:prstGeom prst="rect">
            <a:avLst/>
          </a:prstGeom>
        </p:spPr>
        <p:txBody>
          <a:bodyPr lIns="0" tIns="0" rIns="0" bIns="0" rtlCol="0" anchor="t">
            <a:spAutoFit/>
          </a:bodyPr>
          <a:lstStyle/>
          <a:p>
            <a:pPr algn="l">
              <a:lnSpc>
                <a:spcPts val="2520"/>
              </a:lnSpc>
            </a:pPr>
            <a:r>
              <a:rPr lang="en-US" sz="1800">
                <a:solidFill>
                  <a:srgbClr val="898989"/>
                </a:solidFill>
                <a:latin typeface="Calibri (MS)"/>
                <a:ea typeface="Calibri (MS)"/>
                <a:cs typeface="Calibri (MS)"/>
                <a:sym typeface="Calibri (MS)"/>
              </a:rPr>
              <a:t>2</a:t>
            </a:r>
          </a:p>
        </p:txBody>
      </p:sp>
      <p:sp>
        <p:nvSpPr>
          <p:cNvPr id="10" name="TextBox 10"/>
          <p:cNvSpPr txBox="1"/>
          <p:nvPr/>
        </p:nvSpPr>
        <p:spPr>
          <a:xfrm>
            <a:off x="0" y="2162280"/>
            <a:ext cx="6578689" cy="1315930"/>
          </a:xfrm>
          <a:prstGeom prst="rect">
            <a:avLst/>
          </a:prstGeom>
        </p:spPr>
        <p:txBody>
          <a:bodyPr lIns="0" tIns="0" rIns="0" bIns="0" rtlCol="0" anchor="t">
            <a:spAutoFit/>
          </a:bodyPr>
          <a:lstStyle/>
          <a:p>
            <a:pPr algn="ctr">
              <a:lnSpc>
                <a:spcPts val="5219"/>
              </a:lnSpc>
            </a:pPr>
            <a:r>
              <a:rPr lang="en-US" sz="3728" b="1">
                <a:solidFill>
                  <a:srgbClr val="000000"/>
                </a:solidFill>
                <a:latin typeface="Canva Sans Bold"/>
                <a:ea typeface="Canva Sans Bold"/>
                <a:cs typeface="Canva Sans Bold"/>
                <a:sym typeface="Canva Sans Bold"/>
              </a:rPr>
              <a:t>1. Background and Context:</a:t>
            </a:r>
          </a:p>
          <a:p>
            <a:pPr algn="ctr">
              <a:lnSpc>
                <a:spcPts val="5219"/>
              </a:lnSpc>
            </a:pPr>
            <a:endParaRPr lang="en-US" sz="3728" b="1">
              <a:solidFill>
                <a:srgbClr val="000000"/>
              </a:solidFill>
              <a:latin typeface="Canva Sans Bold"/>
              <a:ea typeface="Canva Sans Bold"/>
              <a:cs typeface="Canva Sans Bold"/>
              <a:sym typeface="Canva Sans Bold"/>
            </a:endParaRPr>
          </a:p>
        </p:txBody>
      </p:sp>
      <p:sp>
        <p:nvSpPr>
          <p:cNvPr id="11" name="Freeform 11"/>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12" name="TextBox 12"/>
          <p:cNvSpPr txBox="1"/>
          <p:nvPr/>
        </p:nvSpPr>
        <p:spPr>
          <a:xfrm>
            <a:off x="0" y="3041420"/>
            <a:ext cx="18288000" cy="29806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Rapid urbanization and population growth have precipitated a global waste management crisis, with cities worldwide struggling to manage exponentially increasing volumes of municipal solid waste (MSW). The World Bank estimates that annual global waste generation will reach 3.4 billion tonnes by 2050—a 70% increase from 2016 levels—with urban areas accounting for the majority of this output</a:t>
            </a:r>
          </a:p>
        </p:txBody>
      </p:sp>
      <p:sp>
        <p:nvSpPr>
          <p:cNvPr id="13" name="TextBox 13"/>
          <p:cNvSpPr txBox="1"/>
          <p:nvPr/>
        </p:nvSpPr>
        <p:spPr>
          <a:xfrm>
            <a:off x="-726791" y="6211740"/>
            <a:ext cx="8489264" cy="648208"/>
          </a:xfrm>
          <a:prstGeom prst="rect">
            <a:avLst/>
          </a:prstGeom>
        </p:spPr>
        <p:txBody>
          <a:bodyPr lIns="0" tIns="0" rIns="0" bIns="0" rtlCol="0" anchor="t">
            <a:spAutoFit/>
          </a:bodyPr>
          <a:lstStyle/>
          <a:p>
            <a:pPr algn="ctr">
              <a:lnSpc>
                <a:spcPts val="5221"/>
              </a:lnSpc>
            </a:pPr>
            <a:r>
              <a:rPr lang="en-US" sz="3729" b="1">
                <a:solidFill>
                  <a:srgbClr val="000000"/>
                </a:solidFill>
                <a:latin typeface="Canva Sans Bold"/>
                <a:ea typeface="Canva Sans Bold"/>
                <a:cs typeface="Canva Sans Bold"/>
                <a:sym typeface="Canva Sans Bold"/>
              </a:rPr>
              <a:t>2.Problems Created by waste:</a:t>
            </a:r>
          </a:p>
        </p:txBody>
      </p:sp>
      <p:sp>
        <p:nvSpPr>
          <p:cNvPr id="14" name="TextBox 14"/>
          <p:cNvSpPr txBox="1"/>
          <p:nvPr/>
        </p:nvSpPr>
        <p:spPr>
          <a:xfrm>
            <a:off x="473661" y="7068629"/>
            <a:ext cx="6651577" cy="2380530"/>
          </a:xfrm>
          <a:prstGeom prst="rect">
            <a:avLst/>
          </a:prstGeom>
        </p:spPr>
        <p:txBody>
          <a:bodyPr lIns="0" tIns="0" rIns="0" bIns="0" rtlCol="0" anchor="t">
            <a:spAutoFit/>
          </a:bodyPr>
          <a:lstStyle/>
          <a:p>
            <a:pPr marL="734785" lvl="1" indent="-367392" algn="l">
              <a:lnSpc>
                <a:spcPts val="4764"/>
              </a:lnSpc>
              <a:buFont typeface="Arial"/>
              <a:buChar char="•"/>
            </a:pPr>
            <a:r>
              <a:rPr lang="en-US" sz="3403">
                <a:solidFill>
                  <a:srgbClr val="000000"/>
                </a:solidFill>
                <a:latin typeface="Canva Sans"/>
                <a:ea typeface="Canva Sans"/>
                <a:cs typeface="Canva Sans"/>
                <a:sym typeface="Canva Sans"/>
              </a:rPr>
              <a:t>Public health Emergencies.</a:t>
            </a:r>
          </a:p>
          <a:p>
            <a:pPr marL="734785" lvl="1" indent="-367392" algn="l">
              <a:lnSpc>
                <a:spcPts val="4764"/>
              </a:lnSpc>
              <a:buFont typeface="Arial"/>
              <a:buChar char="•"/>
            </a:pPr>
            <a:r>
              <a:rPr lang="en-US" sz="3403">
                <a:solidFill>
                  <a:srgbClr val="000000"/>
                </a:solidFill>
                <a:latin typeface="Canva Sans"/>
                <a:ea typeface="Canva Sans"/>
                <a:cs typeface="Canva Sans"/>
                <a:sym typeface="Canva Sans"/>
              </a:rPr>
              <a:t>Drainage system failure.</a:t>
            </a:r>
          </a:p>
          <a:p>
            <a:pPr marL="734785" lvl="1" indent="-367392" algn="l">
              <a:lnSpc>
                <a:spcPts val="4764"/>
              </a:lnSpc>
              <a:buFont typeface="Arial"/>
              <a:buChar char="•"/>
            </a:pPr>
            <a:r>
              <a:rPr lang="en-US" sz="3403">
                <a:solidFill>
                  <a:srgbClr val="000000"/>
                </a:solidFill>
                <a:latin typeface="Canva Sans"/>
                <a:ea typeface="Canva Sans"/>
                <a:cs typeface="Canva Sans"/>
                <a:sym typeface="Canva Sans"/>
              </a:rPr>
              <a:t>Soil Ecosystem Collapse.</a:t>
            </a:r>
          </a:p>
          <a:p>
            <a:pPr marL="734785" lvl="1" indent="-367392" algn="l">
              <a:lnSpc>
                <a:spcPts val="4764"/>
              </a:lnSpc>
              <a:buFont typeface="Arial"/>
              <a:buChar char="•"/>
            </a:pPr>
            <a:r>
              <a:rPr lang="en-US" sz="3403">
                <a:solidFill>
                  <a:srgbClr val="000000"/>
                </a:solidFill>
                <a:latin typeface="Canva Sans"/>
                <a:ea typeface="Canva Sans"/>
                <a:cs typeface="Canva Sans"/>
                <a:sym typeface="Canva Sans"/>
              </a:rPr>
              <a:t>Freshwater Contamination.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2322335" y="535789"/>
            <a:ext cx="7081330" cy="1811020"/>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Problem Statement:</a:t>
            </a:r>
          </a:p>
          <a:p>
            <a:pPr algn="ctr">
              <a:lnSpc>
                <a:spcPts val="7279"/>
              </a:lnSpc>
            </a:pPr>
            <a:endParaRPr lang="en-US" sz="5199" b="1">
              <a:solidFill>
                <a:srgbClr val="000000"/>
              </a:solidFill>
              <a:latin typeface="Canva Sans Bold"/>
              <a:ea typeface="Canva Sans Bold"/>
              <a:cs typeface="Canva Sans Bold"/>
              <a:sym typeface="Canva Sans Bold"/>
            </a:endParaRPr>
          </a:p>
        </p:txBody>
      </p:sp>
      <p:sp>
        <p:nvSpPr>
          <p:cNvPr id="4" name="TextBox 4"/>
          <p:cNvSpPr txBox="1"/>
          <p:nvPr/>
        </p:nvSpPr>
        <p:spPr>
          <a:xfrm>
            <a:off x="-2738047" y="5147594"/>
            <a:ext cx="8882184" cy="629920"/>
          </a:xfrm>
          <a:prstGeom prst="rect">
            <a:avLst/>
          </a:prstGeom>
        </p:spPr>
        <p:txBody>
          <a:bodyPr lIns="0" tIns="0" rIns="0" bIns="0" rtlCol="0" anchor="t">
            <a:spAutoFit/>
          </a:bodyPr>
          <a:lstStyle/>
          <a:p>
            <a:pPr algn="ctr">
              <a:lnSpc>
                <a:spcPts val="5179"/>
              </a:lnSpc>
            </a:pPr>
            <a:r>
              <a:rPr lang="en-US" sz="3699" b="1">
                <a:solidFill>
                  <a:srgbClr val="000000"/>
                </a:solidFill>
                <a:latin typeface="Canva Sans Bold"/>
                <a:ea typeface="Canva Sans Bold"/>
                <a:cs typeface="Canva Sans Bold"/>
                <a:sym typeface="Canva Sans Bold"/>
              </a:rPr>
              <a:t>Key issues:</a:t>
            </a:r>
          </a:p>
        </p:txBody>
      </p:sp>
      <p:sp>
        <p:nvSpPr>
          <p:cNvPr id="5" name="TextBox 5"/>
          <p:cNvSpPr txBox="1"/>
          <p:nvPr/>
        </p:nvSpPr>
        <p:spPr>
          <a:xfrm>
            <a:off x="0" y="2472656"/>
            <a:ext cx="18288000" cy="2380615"/>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Traditional waste management systems operate on fixed schedules and static routes, relying on historical averages rather than real-time demand. This reactive approach results in inefficient collection routes, underutilized recycling streams, overflowing bins, and unnecessary fuel consumption.</a:t>
            </a:r>
          </a:p>
        </p:txBody>
      </p:sp>
      <p:sp>
        <p:nvSpPr>
          <p:cNvPr id="6" name="TextBox 6"/>
          <p:cNvSpPr txBox="1"/>
          <p:nvPr/>
        </p:nvSpPr>
        <p:spPr>
          <a:xfrm>
            <a:off x="0" y="6071836"/>
            <a:ext cx="18288000" cy="4180840"/>
          </a:xfrm>
          <a:prstGeom prst="rect">
            <a:avLst/>
          </a:prstGeom>
        </p:spPr>
        <p:txBody>
          <a:bodyPr lIns="0" tIns="0" rIns="0" bIns="0" rtlCol="0" anchor="t">
            <a:spAutoFit/>
          </a:bodyPr>
          <a:lstStyle/>
          <a:p>
            <a:pPr algn="just">
              <a:lnSpc>
                <a:spcPts val="4759"/>
              </a:lnSpc>
            </a:pPr>
            <a:r>
              <a:rPr lang="en-US" sz="3399">
                <a:solidFill>
                  <a:srgbClr val="000000"/>
                </a:solidFill>
                <a:latin typeface="Canva Sans"/>
                <a:ea typeface="Canva Sans"/>
                <a:cs typeface="Canva Sans"/>
                <a:sym typeface="Canva Sans"/>
              </a:rPr>
              <a:t>(</a:t>
            </a:r>
            <a:r>
              <a:rPr lang="en-US" sz="3399" b="1">
                <a:solidFill>
                  <a:srgbClr val="000000"/>
                </a:solidFill>
                <a:latin typeface="Canva Sans Bold"/>
                <a:ea typeface="Canva Sans Bold"/>
                <a:cs typeface="Canva Sans Bold"/>
                <a:sym typeface="Canva Sans Bold"/>
              </a:rPr>
              <a:t>1)</a:t>
            </a:r>
            <a:r>
              <a:rPr lang="en-US" sz="3399">
                <a:solidFill>
                  <a:srgbClr val="000000"/>
                </a:solidFill>
                <a:latin typeface="Canva Sans"/>
                <a:ea typeface="Canva Sans"/>
                <a:cs typeface="Canva Sans"/>
                <a:sym typeface="Canva Sans"/>
              </a:rPr>
              <a:t> </a:t>
            </a:r>
            <a:r>
              <a:rPr lang="en-US" sz="3399" b="1">
                <a:solidFill>
                  <a:srgbClr val="000000"/>
                </a:solidFill>
                <a:latin typeface="Canva Sans Bold"/>
                <a:ea typeface="Canva Sans Bold"/>
                <a:cs typeface="Canva Sans Bold"/>
                <a:sym typeface="Canva Sans Bold"/>
              </a:rPr>
              <a:t>Predictive Incapacity—</a:t>
            </a:r>
            <a:r>
              <a:rPr lang="en-US" sz="3399">
                <a:solidFill>
                  <a:srgbClr val="000000"/>
                </a:solidFill>
                <a:latin typeface="Canva Sans"/>
                <a:ea typeface="Canva Sans"/>
                <a:cs typeface="Canva Sans"/>
                <a:sym typeface="Canva Sans"/>
              </a:rPr>
              <a:t>inability to accurately forecast waste generation patterns across temporal and spatial dimensions;</a:t>
            </a:r>
          </a:p>
          <a:p>
            <a:pPr algn="just">
              <a:lnSpc>
                <a:spcPts val="4759"/>
              </a:lnSpc>
            </a:pPr>
            <a:r>
              <a:rPr lang="en-US" sz="3399">
                <a:solidFill>
                  <a:srgbClr val="000000"/>
                </a:solidFill>
                <a:latin typeface="Canva Sans"/>
                <a:ea typeface="Canva Sans"/>
                <a:cs typeface="Canva Sans"/>
                <a:sym typeface="Canva Sans"/>
              </a:rPr>
              <a:t> </a:t>
            </a:r>
            <a:r>
              <a:rPr lang="en-US" sz="3399" b="1">
                <a:solidFill>
                  <a:srgbClr val="000000"/>
                </a:solidFill>
                <a:latin typeface="Canva Sans Bold"/>
                <a:ea typeface="Canva Sans Bold"/>
                <a:cs typeface="Canva Sans Bold"/>
                <a:sym typeface="Canva Sans Bold"/>
              </a:rPr>
              <a:t>(2) Operational Inefficiency—</a:t>
            </a:r>
            <a:r>
              <a:rPr lang="en-US" sz="3399">
                <a:solidFill>
                  <a:srgbClr val="000000"/>
                </a:solidFill>
                <a:latin typeface="Canva Sans"/>
                <a:ea typeface="Canva Sans"/>
                <a:cs typeface="Canva Sans"/>
                <a:sym typeface="Canva Sans"/>
              </a:rPr>
              <a:t>suboptimal allocation of collection resources and processing facilities; </a:t>
            </a:r>
          </a:p>
          <a:p>
            <a:pPr algn="just">
              <a:lnSpc>
                <a:spcPts val="4759"/>
              </a:lnSpc>
            </a:pPr>
            <a:r>
              <a:rPr lang="en-US" sz="3399">
                <a:solidFill>
                  <a:srgbClr val="000000"/>
                </a:solidFill>
                <a:latin typeface="Canva Sans"/>
                <a:ea typeface="Canva Sans"/>
                <a:cs typeface="Canva Sans"/>
                <a:sym typeface="Canva Sans"/>
              </a:rPr>
              <a:t> </a:t>
            </a:r>
            <a:r>
              <a:rPr lang="en-US" sz="3399" b="1">
                <a:solidFill>
                  <a:srgbClr val="000000"/>
                </a:solidFill>
                <a:latin typeface="Canva Sans Bold"/>
                <a:ea typeface="Canva Sans Bold"/>
                <a:cs typeface="Canva Sans Bold"/>
                <a:sym typeface="Canva Sans Bold"/>
              </a:rPr>
              <a:t>(3) Recycling Ineffectiveness—</a:t>
            </a:r>
            <a:r>
              <a:rPr lang="en-US" sz="3399">
                <a:solidFill>
                  <a:srgbClr val="000000"/>
                </a:solidFill>
                <a:latin typeface="Canva Sans"/>
                <a:ea typeface="Canva Sans"/>
                <a:cs typeface="Canva Sans"/>
                <a:sym typeface="Canva Sans"/>
              </a:rPr>
              <a:t>low recovery rates due to contamination and poor sorting. Existing solutions often address these issues in isolation, lacking an integrated framework that synergistically combines predictive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2534307" y="1335976"/>
            <a:ext cx="5999679" cy="1811020"/>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Primary Objective:</a:t>
            </a:r>
          </a:p>
          <a:p>
            <a:pPr algn="ctr">
              <a:lnSpc>
                <a:spcPts val="7279"/>
              </a:lnSpc>
            </a:pPr>
            <a:endParaRPr lang="en-US" sz="5199" b="1">
              <a:solidFill>
                <a:srgbClr val="000000"/>
              </a:solidFill>
              <a:latin typeface="Canva Sans Bold"/>
              <a:ea typeface="Canva Sans Bold"/>
              <a:cs typeface="Canva Sans Bold"/>
              <a:sym typeface="Canva Sans Bold"/>
            </a:endParaRPr>
          </a:p>
        </p:txBody>
      </p:sp>
      <p:sp>
        <p:nvSpPr>
          <p:cNvPr id="4" name="TextBox 4"/>
          <p:cNvSpPr txBox="1"/>
          <p:nvPr/>
        </p:nvSpPr>
        <p:spPr>
          <a:xfrm>
            <a:off x="0" y="2667867"/>
            <a:ext cx="18288000" cy="2380615"/>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To develop and validate an integrated artificial intelligence-driven system that synergistically combines predictive analytics with prescriptive optimization for sustainable urban waste management, thereby transforming municipal solid waste (MSW) operations from reactive cost centers to proactive, circular economy enablers.</a:t>
            </a:r>
          </a:p>
        </p:txBody>
      </p:sp>
      <p:sp>
        <p:nvSpPr>
          <p:cNvPr id="5" name="TextBox 5"/>
          <p:cNvSpPr txBox="1"/>
          <p:nvPr/>
        </p:nvSpPr>
        <p:spPr>
          <a:xfrm>
            <a:off x="0" y="5445334"/>
            <a:ext cx="6998294" cy="1233805"/>
          </a:xfrm>
          <a:prstGeom prst="rect">
            <a:avLst/>
          </a:prstGeom>
        </p:spPr>
        <p:txBody>
          <a:bodyPr lIns="0" tIns="0" rIns="0" bIns="0" rtlCol="0" anchor="t">
            <a:spAutoFit/>
          </a:bodyPr>
          <a:lstStyle/>
          <a:p>
            <a:pPr algn="ctr">
              <a:lnSpc>
                <a:spcPts val="5179"/>
              </a:lnSpc>
            </a:pPr>
            <a:r>
              <a:rPr lang="en-US" sz="3699" b="1">
                <a:solidFill>
                  <a:srgbClr val="000000"/>
                </a:solidFill>
                <a:latin typeface="Canva Sans Bold"/>
                <a:ea typeface="Canva Sans Bold"/>
                <a:cs typeface="Canva Sans Bold"/>
                <a:sym typeface="Canva Sans Bold"/>
              </a:rPr>
              <a:t>Specific Research Objectives:</a:t>
            </a:r>
          </a:p>
          <a:p>
            <a:pPr algn="ctr">
              <a:lnSpc>
                <a:spcPts val="4759"/>
              </a:lnSpc>
            </a:pPr>
            <a:endParaRPr lang="en-US" sz="3699" b="1">
              <a:solidFill>
                <a:srgbClr val="000000"/>
              </a:solidFill>
              <a:latin typeface="Canva Sans Bold"/>
              <a:ea typeface="Canva Sans Bold"/>
              <a:cs typeface="Canva Sans Bold"/>
              <a:sym typeface="Canva Sans Bold"/>
            </a:endParaRPr>
          </a:p>
        </p:txBody>
      </p:sp>
      <p:sp>
        <p:nvSpPr>
          <p:cNvPr id="6" name="TextBox 6"/>
          <p:cNvSpPr txBox="1"/>
          <p:nvPr/>
        </p:nvSpPr>
        <p:spPr>
          <a:xfrm>
            <a:off x="1196728" y="6372302"/>
            <a:ext cx="10168774" cy="4440671"/>
          </a:xfrm>
          <a:prstGeom prst="rect">
            <a:avLst/>
          </a:prstGeom>
        </p:spPr>
        <p:txBody>
          <a:bodyPr lIns="0" tIns="0" rIns="0" bIns="0" rtlCol="0" anchor="t">
            <a:spAutoFit/>
          </a:bodyPr>
          <a:lstStyle/>
          <a:p>
            <a:pPr algn="l">
              <a:lnSpc>
                <a:spcPts val="5037"/>
              </a:lnSpc>
            </a:pPr>
            <a:r>
              <a:rPr lang="en-US" sz="3598">
                <a:solidFill>
                  <a:srgbClr val="000000"/>
                </a:solidFill>
                <a:latin typeface="Canva Sans"/>
                <a:ea typeface="Canva Sans"/>
                <a:cs typeface="Canva Sans"/>
                <a:sym typeface="Canva Sans"/>
              </a:rPr>
              <a:t>1. Predictive Modeling.</a:t>
            </a:r>
          </a:p>
          <a:p>
            <a:pPr algn="l">
              <a:lnSpc>
                <a:spcPts val="5037"/>
              </a:lnSpc>
            </a:pPr>
            <a:r>
              <a:rPr lang="en-US" sz="3598">
                <a:solidFill>
                  <a:srgbClr val="000000"/>
                </a:solidFill>
                <a:latin typeface="Canva Sans"/>
                <a:ea typeface="Canva Sans"/>
                <a:cs typeface="Canva Sans"/>
                <a:sym typeface="Canva Sans"/>
              </a:rPr>
              <a:t>2. Optimization and Operationall</a:t>
            </a:r>
          </a:p>
          <a:p>
            <a:pPr algn="l">
              <a:lnSpc>
                <a:spcPts val="5037"/>
              </a:lnSpc>
            </a:pPr>
            <a:r>
              <a:rPr lang="en-US" sz="3598">
                <a:solidFill>
                  <a:srgbClr val="000000"/>
                </a:solidFill>
                <a:latin typeface="Canva Sans"/>
                <a:ea typeface="Canva Sans"/>
                <a:cs typeface="Canva Sans"/>
                <a:sym typeface="Canva Sans"/>
              </a:rPr>
              <a:t>3. System Integration</a:t>
            </a:r>
          </a:p>
          <a:p>
            <a:pPr algn="l">
              <a:lnSpc>
                <a:spcPts val="5037"/>
              </a:lnSpc>
            </a:pPr>
            <a:r>
              <a:rPr lang="en-US" sz="3598">
                <a:solidFill>
                  <a:srgbClr val="000000"/>
                </a:solidFill>
                <a:latin typeface="Canva Sans"/>
                <a:ea typeface="Canva Sans"/>
                <a:cs typeface="Canva Sans"/>
                <a:sym typeface="Canva Sans"/>
              </a:rPr>
              <a:t>4. Sustainability and Behavioral</a:t>
            </a:r>
          </a:p>
          <a:p>
            <a:pPr algn="l">
              <a:lnSpc>
                <a:spcPts val="5037"/>
              </a:lnSpc>
            </a:pPr>
            <a:r>
              <a:rPr lang="en-US" sz="3598">
                <a:solidFill>
                  <a:srgbClr val="000000"/>
                </a:solidFill>
                <a:latin typeface="Canva Sans"/>
                <a:ea typeface="Canva Sans"/>
                <a:cs typeface="Canva Sans"/>
                <a:sym typeface="Canva Sans"/>
              </a:rPr>
              <a:t>5. Implementation and Scalability </a:t>
            </a:r>
          </a:p>
          <a:p>
            <a:pPr algn="l">
              <a:lnSpc>
                <a:spcPts val="5037"/>
              </a:lnSpc>
            </a:pPr>
            <a:endParaRPr lang="en-US" sz="3598">
              <a:solidFill>
                <a:srgbClr val="000000"/>
              </a:solidFill>
              <a:latin typeface="Canva Sans"/>
              <a:ea typeface="Canva Sans"/>
              <a:cs typeface="Canva Sans"/>
              <a:sym typeface="Canva Sans"/>
            </a:endParaRPr>
          </a:p>
          <a:p>
            <a:pPr algn="l">
              <a:lnSpc>
                <a:spcPts val="5037"/>
              </a:lnSpc>
            </a:pPr>
            <a:endParaRPr lang="en-US" sz="3598">
              <a:solidFill>
                <a:srgbClr val="000000"/>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2315670" y="933450"/>
            <a:ext cx="11257598"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Literature Survey/Existing Systems</a:t>
            </a:r>
          </a:p>
        </p:txBody>
      </p:sp>
      <p:sp>
        <p:nvSpPr>
          <p:cNvPr id="4" name="TextBox 4"/>
          <p:cNvSpPr txBox="1"/>
          <p:nvPr/>
        </p:nvSpPr>
        <p:spPr>
          <a:xfrm>
            <a:off x="1267154" y="2526746"/>
            <a:ext cx="15479911" cy="2980690"/>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Abdallah et al. (2020) - Hybrid LSTM-ARIMA model for waste prediction</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Zhao &amp; Liu (2023)</a:t>
            </a:r>
            <a:r>
              <a:rPr lang="en-US" sz="3399">
                <a:solidFill>
                  <a:srgbClr val="000000"/>
                </a:solidFill>
                <a:latin typeface="Canva Sans"/>
                <a:ea typeface="Canva Sans"/>
                <a:cs typeface="Canva Sans"/>
                <a:sym typeface="Canva Sans"/>
              </a:rPr>
              <a:t> - Graph Neural Networks for spatial waste prediction</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Wang et al. (2022)</a:t>
            </a:r>
            <a:r>
              <a:rPr lang="en-US" sz="3399">
                <a:solidFill>
                  <a:srgbClr val="000000"/>
                </a:solidFill>
                <a:latin typeface="Canva Sans"/>
                <a:ea typeface="Canva Sans"/>
                <a:cs typeface="Canva Sans"/>
                <a:sym typeface="Canva Sans"/>
              </a:rPr>
              <a:t> - Digital twins for waste management</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Gupta et al. (2024)</a:t>
            </a:r>
            <a:r>
              <a:rPr lang="en-US" sz="3399">
                <a:solidFill>
                  <a:srgbClr val="000000"/>
                </a:solidFill>
                <a:latin typeface="Canva Sans"/>
                <a:ea typeface="Canva Sans"/>
                <a:cs typeface="Canva Sans"/>
                <a:sym typeface="Canva Sans"/>
              </a:rPr>
              <a:t> - End-to-end deep learning pipelines</a:t>
            </a:r>
          </a:p>
          <a:p>
            <a:pPr algn="l">
              <a:lnSpc>
                <a:spcPts val="4759"/>
              </a:lnSpc>
            </a:pPr>
            <a:endParaRPr lang="en-US" sz="3399">
              <a:solidFill>
                <a:srgbClr val="000000"/>
              </a:solidFill>
              <a:latin typeface="Canva Sans"/>
              <a:ea typeface="Canva Sans"/>
              <a:cs typeface="Canva Sans"/>
              <a:sym typeface="Canva Sans"/>
            </a:endParaRPr>
          </a:p>
        </p:txBody>
      </p:sp>
      <p:sp>
        <p:nvSpPr>
          <p:cNvPr id="5" name="TextBox 5"/>
          <p:cNvSpPr txBox="1"/>
          <p:nvPr/>
        </p:nvSpPr>
        <p:spPr>
          <a:xfrm>
            <a:off x="1267154" y="6078936"/>
            <a:ext cx="5457825" cy="2380615"/>
          </a:xfrm>
          <a:prstGeom prst="rect">
            <a:avLst/>
          </a:prstGeom>
        </p:spPr>
        <p:txBody>
          <a:bodyPr lIns="0" tIns="0" rIns="0" bIns="0" rtlCol="0" anchor="t">
            <a:spAutoFit/>
          </a:bodyPr>
          <a:lstStyle/>
          <a:p>
            <a:pPr marL="734059" lvl="1" indent="-367030" algn="just">
              <a:lnSpc>
                <a:spcPts val="4759"/>
              </a:lnSpc>
              <a:buFont typeface="Arial"/>
              <a:buChar char="•"/>
            </a:pPr>
            <a:r>
              <a:rPr lang="en-US" sz="3399" b="1">
                <a:solidFill>
                  <a:srgbClr val="000000"/>
                </a:solidFill>
                <a:latin typeface="Canva Sans Medium"/>
                <a:ea typeface="Canva Sans Medium"/>
                <a:cs typeface="Canva Sans Medium"/>
                <a:sym typeface="Canva Sans Medium"/>
              </a:rPr>
              <a:t>AMCS Platform</a:t>
            </a:r>
          </a:p>
          <a:p>
            <a:pPr marL="734059" lvl="1" indent="-367030" algn="just">
              <a:lnSpc>
                <a:spcPts val="4759"/>
              </a:lnSpc>
              <a:buFont typeface="Arial"/>
              <a:buChar char="•"/>
            </a:pPr>
            <a:r>
              <a:rPr lang="en-US" sz="3399" b="1">
                <a:solidFill>
                  <a:srgbClr val="000000"/>
                </a:solidFill>
                <a:latin typeface="Canva Sans Medium"/>
                <a:ea typeface="Canva Sans Medium"/>
                <a:cs typeface="Canva Sans Medium"/>
                <a:sym typeface="Canva Sans Medium"/>
              </a:rPr>
              <a:t>Recycle Track Systems</a:t>
            </a:r>
          </a:p>
          <a:p>
            <a:pPr marL="734059" lvl="1" indent="-367030" algn="just">
              <a:lnSpc>
                <a:spcPts val="4759"/>
              </a:lnSpc>
              <a:buFont typeface="Arial"/>
              <a:buChar char="•"/>
            </a:pPr>
            <a:r>
              <a:rPr lang="en-US" sz="3399" b="1">
                <a:solidFill>
                  <a:srgbClr val="000000"/>
                </a:solidFill>
                <a:latin typeface="Canva Sans Medium"/>
                <a:ea typeface="Canva Sans Medium"/>
                <a:cs typeface="Canva Sans Medium"/>
                <a:sym typeface="Canva Sans Medium"/>
              </a:rPr>
              <a:t>Rubicon Smart City</a:t>
            </a:r>
          </a:p>
          <a:p>
            <a:pPr marL="734059" lvl="1" indent="-367030" algn="just">
              <a:lnSpc>
                <a:spcPts val="4759"/>
              </a:lnSpc>
              <a:buFont typeface="Arial"/>
              <a:buChar char="•"/>
            </a:pPr>
            <a:r>
              <a:rPr lang="en-US" sz="3399" b="1">
                <a:solidFill>
                  <a:srgbClr val="000000"/>
                </a:solidFill>
                <a:latin typeface="Canva Sans Medium"/>
                <a:ea typeface="Canva Sans Medium"/>
                <a:cs typeface="Canva Sans Medium"/>
                <a:sym typeface="Canva Sans Medium"/>
              </a:rPr>
              <a:t>Sensoneo</a:t>
            </a:r>
          </a:p>
        </p:txBody>
      </p:sp>
      <p:sp>
        <p:nvSpPr>
          <p:cNvPr id="6" name="TextBox 6"/>
          <p:cNvSpPr txBox="1"/>
          <p:nvPr/>
        </p:nvSpPr>
        <p:spPr>
          <a:xfrm>
            <a:off x="499548" y="5048250"/>
            <a:ext cx="2894529"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2534307" y="933450"/>
            <a:ext cx="4408765" cy="1811020"/>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Research Gap</a:t>
            </a:r>
          </a:p>
          <a:p>
            <a:pPr algn="ctr">
              <a:lnSpc>
                <a:spcPts val="7279"/>
              </a:lnSpc>
            </a:pPr>
            <a:endParaRPr lang="en-US" sz="5199" b="1">
              <a:solidFill>
                <a:srgbClr val="000000"/>
              </a:solidFill>
              <a:latin typeface="Canva Sans Bold"/>
              <a:ea typeface="Canva Sans Bold"/>
              <a:cs typeface="Canva Sans Bold"/>
              <a:sym typeface="Canva Sans Bold"/>
            </a:endParaRPr>
          </a:p>
        </p:txBody>
      </p:sp>
      <p:sp>
        <p:nvSpPr>
          <p:cNvPr id="4" name="TextBox 4"/>
          <p:cNvSpPr txBox="1"/>
          <p:nvPr/>
        </p:nvSpPr>
        <p:spPr>
          <a:xfrm>
            <a:off x="337367" y="2677795"/>
            <a:ext cx="17613265" cy="5762854"/>
          </a:xfrm>
          <a:prstGeom prst="rect">
            <a:avLst/>
          </a:prstGeom>
        </p:spPr>
        <p:txBody>
          <a:bodyPr lIns="0" tIns="0" rIns="0" bIns="0" rtlCol="0" anchor="t">
            <a:spAutoFit/>
          </a:bodyPr>
          <a:lstStyle/>
          <a:p>
            <a:pPr algn="just">
              <a:lnSpc>
                <a:spcPts val="4584"/>
              </a:lnSpc>
            </a:pPr>
            <a:r>
              <a:rPr lang="en-US" sz="3274">
                <a:solidFill>
                  <a:srgbClr val="000000"/>
                </a:solidFill>
                <a:latin typeface="Canva Sans"/>
                <a:ea typeface="Canva Sans"/>
                <a:cs typeface="Canva Sans"/>
                <a:sym typeface="Canva Sans"/>
              </a:rPr>
              <a:t>While recent studies have employed machine learning for waste prediction [2,3] or optimization algorithms for route planning [4], few systems holistically integrate these components into a unified, adaptive framework. Furthermore, most models overlook the dynamic interplay between socio-economic factors, environmental variables, and real-time sensor data. There is a critical need for an intelligent urban waste management system that not only predicts generation patterns with high spatiotemporal resolution but also dynamically optimizes collection logistics and recycling processes. This gap presents an opportunity to leverage advancements in Internet of Things (IoT), deep learning, and prescriptive analytics to create a closed-loop system that enhances sustainability and operational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1864721" y="1003262"/>
            <a:ext cx="7762185" cy="1811020"/>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PROPOSED SYSTEM</a:t>
            </a:r>
          </a:p>
          <a:p>
            <a:pPr algn="ctr">
              <a:lnSpc>
                <a:spcPts val="7279"/>
              </a:lnSpc>
            </a:pPr>
            <a:endParaRPr lang="en-US" sz="5199" b="1">
              <a:solidFill>
                <a:srgbClr val="000000"/>
              </a:solidFill>
              <a:latin typeface="Canva Sans Bold"/>
              <a:ea typeface="Canva Sans Bold"/>
              <a:cs typeface="Canva Sans Bold"/>
              <a:sym typeface="Canva Sans Bold"/>
            </a:endParaRPr>
          </a:p>
        </p:txBody>
      </p:sp>
      <p:sp>
        <p:nvSpPr>
          <p:cNvPr id="4" name="TextBox 4"/>
          <p:cNvSpPr txBox="1"/>
          <p:nvPr/>
        </p:nvSpPr>
        <p:spPr>
          <a:xfrm>
            <a:off x="613880" y="2483196"/>
            <a:ext cx="4539972"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1. SYSTEM OVERVIEW</a:t>
            </a:r>
          </a:p>
          <a:p>
            <a:pPr algn="ctr">
              <a:lnSpc>
                <a:spcPts val="4759"/>
              </a:lnSpc>
            </a:pPr>
            <a:endParaRPr lang="en-US" sz="3399" b="1">
              <a:solidFill>
                <a:srgbClr val="000000"/>
              </a:solidFill>
              <a:latin typeface="Canva Sans Bold"/>
              <a:ea typeface="Canva Sans Bold"/>
              <a:cs typeface="Canva Sans Bold"/>
              <a:sym typeface="Canva Sans Bold"/>
            </a:endParaRPr>
          </a:p>
        </p:txBody>
      </p:sp>
      <p:sp>
        <p:nvSpPr>
          <p:cNvPr id="5" name="TextBox 5"/>
          <p:cNvSpPr txBox="1"/>
          <p:nvPr/>
        </p:nvSpPr>
        <p:spPr>
          <a:xfrm>
            <a:off x="613880" y="3321531"/>
            <a:ext cx="3620810"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Vision Statement</a:t>
            </a:r>
          </a:p>
          <a:p>
            <a:pPr algn="ctr">
              <a:lnSpc>
                <a:spcPts val="4759"/>
              </a:lnSpc>
            </a:pPr>
            <a:endParaRPr lang="en-US" sz="3399" b="1">
              <a:solidFill>
                <a:srgbClr val="000000"/>
              </a:solidFill>
              <a:latin typeface="Canva Sans Bold"/>
              <a:ea typeface="Canva Sans Bold"/>
              <a:cs typeface="Canva Sans Bold"/>
              <a:sym typeface="Canva Sans Bold"/>
            </a:endParaRPr>
          </a:p>
        </p:txBody>
      </p:sp>
      <p:sp>
        <p:nvSpPr>
          <p:cNvPr id="6" name="TextBox 6"/>
          <p:cNvSpPr txBox="1"/>
          <p:nvPr/>
        </p:nvSpPr>
        <p:spPr>
          <a:xfrm>
            <a:off x="0" y="4187536"/>
            <a:ext cx="18288000" cy="2380615"/>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An Integrated Intelligent Urban Waste Management System (IUWMS) that transforms traditional reactive waste management into a proactive, predictive, and circular economy-enabling platform through the seamless integration of IoT, Artificial Intelligence, and optimization algorithms.</a:t>
            </a:r>
          </a:p>
        </p:txBody>
      </p:sp>
      <p:sp>
        <p:nvSpPr>
          <p:cNvPr id="7" name="TextBox 7"/>
          <p:cNvSpPr txBox="1"/>
          <p:nvPr/>
        </p:nvSpPr>
        <p:spPr>
          <a:xfrm>
            <a:off x="613880" y="6501476"/>
            <a:ext cx="3469005"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Core Philosophy</a:t>
            </a:r>
          </a:p>
          <a:p>
            <a:pPr algn="ctr">
              <a:lnSpc>
                <a:spcPts val="4759"/>
              </a:lnSpc>
            </a:pPr>
            <a:endParaRPr lang="en-US" sz="3399" b="1">
              <a:solidFill>
                <a:srgbClr val="000000"/>
              </a:solidFill>
              <a:latin typeface="Canva Sans Bold"/>
              <a:ea typeface="Canva Sans Bold"/>
              <a:cs typeface="Canva Sans Bold"/>
              <a:sym typeface="Canva Sans Bold"/>
            </a:endParaRPr>
          </a:p>
        </p:txBody>
      </p:sp>
      <p:sp>
        <p:nvSpPr>
          <p:cNvPr id="8" name="TextBox 8"/>
          <p:cNvSpPr txBox="1"/>
          <p:nvPr/>
        </p:nvSpPr>
        <p:spPr>
          <a:xfrm>
            <a:off x="0" y="7092026"/>
            <a:ext cx="18288000" cy="178054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"From Collection to Circularity" – Moving beyond mere waste collection optimization to creating a closed-loop material ecosystem where waste is minimized, resources are maximally recovered, and environmental impact is continuously reduced.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2534307" y="933450"/>
            <a:ext cx="10114241"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Proposed Tools &amp; Technologies:</a:t>
            </a:r>
          </a:p>
        </p:txBody>
      </p:sp>
      <p:sp>
        <p:nvSpPr>
          <p:cNvPr id="4" name="TextBox 4"/>
          <p:cNvSpPr txBox="1"/>
          <p:nvPr/>
        </p:nvSpPr>
        <p:spPr>
          <a:xfrm>
            <a:off x="676187" y="2385625"/>
            <a:ext cx="6414373" cy="2980690"/>
          </a:xfrm>
          <a:prstGeom prst="rect">
            <a:avLst/>
          </a:prstGeom>
        </p:spPr>
        <p:txBody>
          <a:bodyPr lIns="0" tIns="0" rIns="0" bIns="0" rtlCol="0" anchor="t">
            <a:spAutoFit/>
          </a:bodyPr>
          <a:lstStyle/>
          <a:p>
            <a:pPr algn="just">
              <a:lnSpc>
                <a:spcPts val="4759"/>
              </a:lnSpc>
            </a:pPr>
            <a:r>
              <a:rPr lang="en-US" sz="3399" b="1">
                <a:solidFill>
                  <a:srgbClr val="000000"/>
                </a:solidFill>
                <a:latin typeface="Canva Sans Medium"/>
                <a:ea typeface="Canva Sans Medium"/>
                <a:cs typeface="Canva Sans Medium"/>
                <a:sym typeface="Canva Sans Medium"/>
              </a:rPr>
              <a:t>1.Smart Bins/IoT Sensors</a:t>
            </a:r>
          </a:p>
          <a:p>
            <a:pPr algn="just">
              <a:lnSpc>
                <a:spcPts val="4759"/>
              </a:lnSpc>
            </a:pPr>
            <a:r>
              <a:rPr lang="en-US" sz="3399" b="1">
                <a:solidFill>
                  <a:srgbClr val="000000"/>
                </a:solidFill>
                <a:latin typeface="Canva Sans Medium"/>
                <a:ea typeface="Canva Sans Medium"/>
                <a:cs typeface="Canva Sans Medium"/>
                <a:sym typeface="Canva Sans Medium"/>
              </a:rPr>
              <a:t>2.RFID Tags</a:t>
            </a:r>
          </a:p>
          <a:p>
            <a:pPr algn="just">
              <a:lnSpc>
                <a:spcPts val="4759"/>
              </a:lnSpc>
            </a:pPr>
            <a:r>
              <a:rPr lang="en-US" sz="3399" b="1">
                <a:solidFill>
                  <a:srgbClr val="000000"/>
                </a:solidFill>
                <a:latin typeface="Canva Sans Medium"/>
                <a:ea typeface="Canva Sans Medium"/>
                <a:cs typeface="Canva Sans Medium"/>
                <a:sym typeface="Canva Sans Medium"/>
              </a:rPr>
              <a:t>3.Route Optimization Software</a:t>
            </a:r>
          </a:p>
          <a:p>
            <a:pPr algn="just">
              <a:lnSpc>
                <a:spcPts val="4759"/>
              </a:lnSpc>
            </a:pPr>
            <a:r>
              <a:rPr lang="en-US" sz="3399" b="1">
                <a:solidFill>
                  <a:srgbClr val="000000"/>
                </a:solidFill>
                <a:latin typeface="Canva Sans Medium"/>
                <a:ea typeface="Canva Sans Medium"/>
                <a:cs typeface="Canva Sans Medium"/>
                <a:sym typeface="Canva Sans Medium"/>
              </a:rPr>
              <a:t>4.Fleet Management Systems</a:t>
            </a:r>
          </a:p>
          <a:p>
            <a:pPr algn="just">
              <a:lnSpc>
                <a:spcPts val="4759"/>
              </a:lnSpc>
            </a:pPr>
            <a:r>
              <a:rPr lang="en-US" sz="3399" b="1">
                <a:solidFill>
                  <a:srgbClr val="000000"/>
                </a:solidFill>
                <a:latin typeface="Canva Sans Medium"/>
                <a:ea typeface="Canva Sans Medium"/>
                <a:cs typeface="Canva Sans Medium"/>
                <a:sym typeface="Canva Sans Medium"/>
              </a:rPr>
              <a:t>5.Python (scikit-learn)</a:t>
            </a:r>
          </a:p>
        </p:txBody>
      </p:sp>
      <p:sp>
        <p:nvSpPr>
          <p:cNvPr id="5" name="TextBox 5"/>
          <p:cNvSpPr txBox="1"/>
          <p:nvPr/>
        </p:nvSpPr>
        <p:spPr>
          <a:xfrm>
            <a:off x="501820" y="5271065"/>
            <a:ext cx="6763108"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Tools for the System:</a:t>
            </a:r>
          </a:p>
        </p:txBody>
      </p:sp>
      <p:sp>
        <p:nvSpPr>
          <p:cNvPr id="6" name="TextBox 6"/>
          <p:cNvSpPr txBox="1"/>
          <p:nvPr/>
        </p:nvSpPr>
        <p:spPr>
          <a:xfrm>
            <a:off x="676187" y="6372302"/>
            <a:ext cx="7756628" cy="2980690"/>
          </a:xfrm>
          <a:prstGeom prst="rect">
            <a:avLst/>
          </a:prstGeom>
        </p:spPr>
        <p:txBody>
          <a:bodyPr lIns="0" tIns="0" rIns="0" bIns="0" rtlCol="0" anchor="t">
            <a:spAutoFit/>
          </a:bodyPr>
          <a:lstStyle/>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Python 3.9+</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Jupyter Notebook</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FastAPI/Flask</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PostgreSQL</a:t>
            </a:r>
          </a:p>
          <a:p>
            <a:pPr marL="734059" lvl="1" indent="-367030" algn="l">
              <a:lnSpc>
                <a:spcPts val="4759"/>
              </a:lnSpc>
              <a:buFont typeface="Arial"/>
              <a:buChar char="•"/>
            </a:pPr>
            <a:r>
              <a:rPr lang="en-US" sz="3399" b="1">
                <a:solidFill>
                  <a:srgbClr val="000000"/>
                </a:solidFill>
                <a:latin typeface="Canva Sans Medium"/>
                <a:ea typeface="Canva Sans Medium"/>
                <a:cs typeface="Canva Sans Medium"/>
                <a:sym typeface="Canva Sans Medium"/>
              </a:rPr>
              <a:t>Git/GitHub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03"/>
            <a:ext cx="2534307" cy="1855394"/>
          </a:xfrm>
          <a:custGeom>
            <a:avLst/>
            <a:gdLst/>
            <a:ahLst/>
            <a:cxnLst/>
            <a:rect l="l" t="t" r="r" b="b"/>
            <a:pathLst>
              <a:path w="2534307" h="1855394">
                <a:moveTo>
                  <a:pt x="0" y="0"/>
                </a:moveTo>
                <a:lnTo>
                  <a:pt x="2534307" y="0"/>
                </a:lnTo>
                <a:lnTo>
                  <a:pt x="2534307" y="1855394"/>
                </a:lnTo>
                <a:lnTo>
                  <a:pt x="0" y="1855394"/>
                </a:lnTo>
                <a:lnTo>
                  <a:pt x="0" y="0"/>
                </a:lnTo>
                <a:close/>
              </a:path>
            </a:pathLst>
          </a:custGeom>
          <a:blipFill>
            <a:blip r:embed="rId2"/>
            <a:stretch>
              <a:fillRect t="-17704" r="-93" b="-17842"/>
            </a:stretch>
          </a:blipFill>
        </p:spPr>
      </p:sp>
      <p:sp>
        <p:nvSpPr>
          <p:cNvPr id="3" name="TextBox 3"/>
          <p:cNvSpPr txBox="1"/>
          <p:nvPr/>
        </p:nvSpPr>
        <p:spPr>
          <a:xfrm>
            <a:off x="2852788" y="389853"/>
            <a:ext cx="6713101"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References:</a:t>
            </a:r>
          </a:p>
        </p:txBody>
      </p:sp>
      <p:sp>
        <p:nvSpPr>
          <p:cNvPr id="4" name="TextBox 4"/>
          <p:cNvSpPr txBox="1"/>
          <p:nvPr/>
        </p:nvSpPr>
        <p:spPr>
          <a:xfrm>
            <a:off x="1028700" y="2669924"/>
            <a:ext cx="15112770" cy="7181214"/>
          </a:xfrm>
          <a:prstGeom prst="rect">
            <a:avLst/>
          </a:prstGeom>
        </p:spPr>
        <p:txBody>
          <a:bodyPr lIns="0" tIns="0" rIns="0" bIns="0" rtlCol="0" anchor="t">
            <a:spAutoFit/>
          </a:bodyPr>
          <a:lstStyle/>
          <a:p>
            <a:pPr marL="734069" lvl="1" indent="-367035" algn="just">
              <a:lnSpc>
                <a:spcPts val="4760"/>
              </a:lnSpc>
              <a:buFont typeface="Arial"/>
              <a:buChar char="•"/>
            </a:pPr>
            <a:r>
              <a:rPr lang="en-US" sz="3400">
                <a:solidFill>
                  <a:srgbClr val="000000"/>
                </a:solidFill>
                <a:latin typeface="Canva Sans"/>
                <a:ea typeface="Canva Sans"/>
                <a:cs typeface="Canva Sans"/>
                <a:sym typeface="Canva Sans"/>
              </a:rPr>
              <a:t>Marrone, M., Piscitelli, M. S., &amp; Capozzoli, A. (2023). Data-driven approaches for urban waste prediction</a:t>
            </a:r>
          </a:p>
          <a:p>
            <a:pPr marL="734069" lvl="1" indent="-367035" algn="just">
              <a:lnSpc>
                <a:spcPts val="4760"/>
              </a:lnSpc>
              <a:buFont typeface="Arial"/>
              <a:buChar char="•"/>
            </a:pPr>
            <a:r>
              <a:rPr lang="en-US" sz="3400">
                <a:solidFill>
                  <a:srgbClr val="000000"/>
                </a:solidFill>
                <a:latin typeface="Canva Sans"/>
                <a:ea typeface="Canva Sans"/>
                <a:cs typeface="Canva Sans"/>
                <a:sym typeface="Canva Sans"/>
              </a:rPr>
              <a:t>Nguyen, T. T., et al. (2021). Application of machine learning in solid waste management</a:t>
            </a:r>
          </a:p>
          <a:p>
            <a:pPr marL="734069" lvl="1" indent="-367035" algn="just">
              <a:lnSpc>
                <a:spcPts val="4760"/>
              </a:lnSpc>
              <a:buFont typeface="Arial"/>
              <a:buChar char="•"/>
            </a:pPr>
            <a:r>
              <a:rPr lang="en-US" sz="3400">
                <a:solidFill>
                  <a:srgbClr val="000000"/>
                </a:solidFill>
                <a:latin typeface="Canva Sans"/>
                <a:ea typeface="Canva Sans"/>
                <a:cs typeface="Canva Sans"/>
                <a:sym typeface="Canva Sans"/>
              </a:rPr>
              <a:t>Shi, Y., Wang, H., &amp; Bai, L. (2021). A hybrid model based on convolutional neural network and long short-term memory for municipal solid waste generation prediction</a:t>
            </a:r>
          </a:p>
          <a:p>
            <a:pPr marL="734069" lvl="1" indent="-367035" algn="just">
              <a:lnSpc>
                <a:spcPts val="4760"/>
              </a:lnSpc>
              <a:buFont typeface="Arial"/>
              <a:buChar char="•"/>
            </a:pPr>
            <a:r>
              <a:rPr lang="en-US" sz="3400">
                <a:solidFill>
                  <a:srgbClr val="000000"/>
                </a:solidFill>
                <a:latin typeface="Canva Sans"/>
                <a:ea typeface="Canva Sans"/>
                <a:cs typeface="Canva Sans"/>
                <a:sym typeface="Canva Sans"/>
              </a:rPr>
              <a:t>Hannan, M. A., et al. (2021). Intelligent systems for solid waste bin state detection and collection optimization</a:t>
            </a:r>
          </a:p>
          <a:p>
            <a:pPr marL="734069" lvl="1" indent="-367035" algn="just">
              <a:lnSpc>
                <a:spcPts val="4760"/>
              </a:lnSpc>
              <a:buFont typeface="Arial"/>
              <a:buChar char="•"/>
            </a:pPr>
            <a:r>
              <a:rPr lang="en-US" sz="3400">
                <a:solidFill>
                  <a:srgbClr val="000000"/>
                </a:solidFill>
                <a:latin typeface="Canva Sans"/>
                <a:ea typeface="Canva Sans"/>
                <a:cs typeface="Canva Sans"/>
                <a:sym typeface="Canva Sans"/>
              </a:rPr>
              <a:t>Meng, F., &amp; Liu, G. (2022). A digital twin-driven approach for dynamic scheduling of municipal solid waste collection</a:t>
            </a:r>
          </a:p>
          <a:p>
            <a:pPr algn="just">
              <a:lnSpc>
                <a:spcPts val="4760"/>
              </a:lnSpc>
            </a:pPr>
            <a:endParaRPr lang="en-US" sz="3400">
              <a:solidFill>
                <a:srgbClr val="000000"/>
              </a:solidFill>
              <a:latin typeface="Canva Sans"/>
              <a:ea typeface="Canva Sans"/>
              <a:cs typeface="Canva Sans"/>
              <a:sym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829</Words>
  <Application>Microsoft Office PowerPoint</Application>
  <PresentationFormat>Custom</PresentationFormat>
  <Paragraphs>79</Paragraphs>
  <Slides>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Calibri (MS) Bold</vt:lpstr>
      <vt:lpstr>Arial</vt:lpstr>
      <vt:lpstr>Calibri (MS)</vt:lpstr>
      <vt:lpstr>Times New Roman MT Bold</vt:lpstr>
      <vt:lpstr>Calibri</vt:lpstr>
      <vt:lpstr>Canva Sans Bold</vt:lpstr>
      <vt:lpstr>Times New Roman MT</vt:lpstr>
      <vt:lpstr>Canva Sans</vt:lpstr>
      <vt:lpstr>Canva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Waste prediction and recycling optimization system</dc:title>
  <cp:lastModifiedBy>ss kishan</cp:lastModifiedBy>
  <cp:revision>2</cp:revision>
  <dcterms:created xsi:type="dcterms:W3CDTF">2006-08-16T00:00:00Z</dcterms:created>
  <dcterms:modified xsi:type="dcterms:W3CDTF">2026-09-24T17:00:36Z</dcterms:modified>
  <dc:identifier>DAG_PnlX78Y</dc:identifier>
</cp:coreProperties>
</file>