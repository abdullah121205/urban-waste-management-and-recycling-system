
<file path=[Content_Types].xml><?xml version="1.0" encoding="utf-8"?>
<Types xmlns="http://schemas.openxmlformats.org/package/2006/content-types">
  <Default ContentType="application/x-fontdata" Extension="fntdata"/>
  <Default ContentType="image/jpeg" Extension="jpe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Times New Roman MT Bold" charset="1" panose="02030802070405020303"/>
      <p:regular r:id="rId15"/>
    </p:embeddedFont>
    <p:embeddedFont>
      <p:font typeface="Times New Roman MT" charset="1" panose="02030502070405020303"/>
      <p:regular r:id="rId16"/>
    </p:embeddedFont>
    <p:embeddedFont>
      <p:font typeface="Calibri (MS)" charset="1" panose="020F0502020204030204"/>
      <p:regular r:id="rId17"/>
    </p:embeddedFont>
    <p:embeddedFont>
      <p:font typeface="Canva Sans Bold" charset="1" panose="020B0803030501040103"/>
      <p:regular r:id="rId18"/>
    </p:embeddedFont>
    <p:embeddedFont>
      <p:font typeface="Calibri (MS) Bold" charset="1" panose="020F0702030404030204"/>
      <p:regular r:id="rId19"/>
    </p:embeddedFont>
    <p:embeddedFont>
      <p:font typeface="Canva Sans" charset="1" panose="020B0503030501040103"/>
      <p:regular r:id="rId20"/>
    </p:embeddedFont>
    <p:embeddedFont>
      <p:font typeface="Canva Sans Medium" charset="1" panose="020B0603030501040103"/>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8453104" y="4100798"/>
            <a:ext cx="93897" cy="537772"/>
          </a:xfrm>
          <a:prstGeom prst="rect">
            <a:avLst/>
          </a:prstGeom>
        </p:spPr>
        <p:txBody>
          <a:bodyPr anchor="t" rtlCol="false" tIns="0" lIns="0" bIns="0" rIns="0">
            <a:spAutoFit/>
          </a:bodyPr>
          <a:lstStyle/>
          <a:p>
            <a:pPr algn="l">
              <a:lnSpc>
                <a:spcPts val="4059"/>
              </a:lnSpc>
            </a:pPr>
            <a:r>
              <a:rPr lang="en-US" b="true" sz="2899">
                <a:solidFill>
                  <a:srgbClr val="000000"/>
                </a:solidFill>
                <a:latin typeface="Times New Roman MT Bold"/>
                <a:ea typeface="Times New Roman MT Bold"/>
                <a:cs typeface="Times New Roman MT Bold"/>
                <a:sym typeface="Times New Roman MT Bold"/>
              </a:rPr>
              <a:t> </a:t>
            </a:r>
          </a:p>
        </p:txBody>
      </p:sp>
      <p:sp>
        <p:nvSpPr>
          <p:cNvPr name="TextBox 4" id="4"/>
          <p:cNvSpPr txBox="true"/>
          <p:nvPr/>
        </p:nvSpPr>
        <p:spPr>
          <a:xfrm rot="0">
            <a:off x="7404068" y="3648751"/>
            <a:ext cx="3607679" cy="499672"/>
          </a:xfrm>
          <a:prstGeom prst="rect">
            <a:avLst/>
          </a:prstGeom>
        </p:spPr>
        <p:txBody>
          <a:bodyPr anchor="t" rtlCol="false" tIns="0" lIns="0" bIns="0" rIns="0">
            <a:spAutoFit/>
          </a:bodyPr>
          <a:lstStyle/>
          <a:p>
            <a:pPr algn="l">
              <a:lnSpc>
                <a:spcPts val="3673"/>
              </a:lnSpc>
            </a:pPr>
            <a:r>
              <a:rPr lang="en-US" b="true" sz="2899">
                <a:solidFill>
                  <a:srgbClr val="000000"/>
                </a:solidFill>
                <a:latin typeface="Times New Roman MT Bold"/>
                <a:ea typeface="Times New Roman MT Bold"/>
                <a:cs typeface="Times New Roman MT Bold"/>
                <a:sym typeface="Times New Roman MT Bold"/>
              </a:rPr>
              <a:t>CourseCode &amp;Name :</a:t>
            </a:r>
          </a:p>
        </p:txBody>
      </p:sp>
      <p:sp>
        <p:nvSpPr>
          <p:cNvPr name="TextBox 5" id="5"/>
          <p:cNvSpPr txBox="true"/>
          <p:nvPr/>
        </p:nvSpPr>
        <p:spPr>
          <a:xfrm rot="0">
            <a:off x="6070931" y="6110573"/>
            <a:ext cx="6532959" cy="842572"/>
          </a:xfrm>
          <a:prstGeom prst="rect">
            <a:avLst/>
          </a:prstGeom>
        </p:spPr>
        <p:txBody>
          <a:bodyPr anchor="t" rtlCol="false" tIns="0" lIns="0" bIns="0" rIns="0">
            <a:spAutoFit/>
          </a:bodyPr>
          <a:lstStyle/>
          <a:p>
            <a:pPr algn="l">
              <a:lnSpc>
                <a:spcPts val="7248"/>
              </a:lnSpc>
            </a:pPr>
            <a:r>
              <a:rPr lang="en-US" b="true" sz="2899">
                <a:solidFill>
                  <a:srgbClr val="000000"/>
                </a:solidFill>
                <a:latin typeface="Times New Roman MT Bold"/>
                <a:ea typeface="Times New Roman MT Bold"/>
                <a:cs typeface="Times New Roman MT Bold"/>
                <a:sym typeface="Times New Roman MT Bold"/>
              </a:rPr>
              <a:t>Student Name(s) and Register Number(s):</a:t>
            </a:r>
          </a:p>
        </p:txBody>
      </p:sp>
      <p:sp>
        <p:nvSpPr>
          <p:cNvPr name="TextBox 6" id="6"/>
          <p:cNvSpPr txBox="true"/>
          <p:nvPr/>
        </p:nvSpPr>
        <p:spPr>
          <a:xfrm rot="0">
            <a:off x="5192820" y="7296229"/>
            <a:ext cx="8623478" cy="667341"/>
          </a:xfrm>
          <a:prstGeom prst="rect">
            <a:avLst/>
          </a:prstGeom>
        </p:spPr>
        <p:txBody>
          <a:bodyPr anchor="t" rtlCol="false" tIns="0" lIns="0" bIns="0" rIns="0">
            <a:spAutoFit/>
          </a:bodyPr>
          <a:lstStyle/>
          <a:p>
            <a:pPr algn="ctr">
              <a:lnSpc>
                <a:spcPts val="1449"/>
              </a:lnSpc>
            </a:pPr>
            <a:r>
              <a:rPr lang="en-US" sz="2899" b="true">
                <a:solidFill>
                  <a:srgbClr val="000000"/>
                </a:solidFill>
                <a:latin typeface="Times New Roman MT Bold"/>
                <a:ea typeface="Times New Roman MT Bold"/>
                <a:cs typeface="Times New Roman MT Bold"/>
                <a:sym typeface="Times New Roman MT Bold"/>
              </a:rPr>
              <a:t>1.</a:t>
            </a:r>
            <a:r>
              <a:rPr lang="en-US" sz="2899">
                <a:solidFill>
                  <a:srgbClr val="000000"/>
                </a:solidFill>
                <a:latin typeface="Times New Roman MT"/>
                <a:ea typeface="Times New Roman MT"/>
                <a:cs typeface="Times New Roman MT"/>
                <a:sym typeface="Times New Roman MT"/>
              </a:rPr>
              <a:t>Abdullah.E (RA2411047050060)</a:t>
            </a:r>
          </a:p>
          <a:p>
            <a:pPr algn="ctr">
              <a:lnSpc>
                <a:spcPts val="1449"/>
              </a:lnSpc>
            </a:pPr>
          </a:p>
          <a:p>
            <a:pPr algn="ctr">
              <a:lnSpc>
                <a:spcPts val="1449"/>
              </a:lnSpc>
            </a:pPr>
            <a:r>
              <a:rPr lang="en-US" b="true" sz="2899">
                <a:solidFill>
                  <a:srgbClr val="000000"/>
                </a:solidFill>
                <a:latin typeface="Times New Roman MT Bold"/>
                <a:ea typeface="Times New Roman MT Bold"/>
                <a:cs typeface="Times New Roman MT Bold"/>
                <a:sym typeface="Times New Roman MT Bold"/>
              </a:rPr>
              <a:t>2.</a:t>
            </a:r>
            <a:r>
              <a:rPr lang="en-US" sz="2899">
                <a:solidFill>
                  <a:srgbClr val="000000"/>
                </a:solidFill>
                <a:latin typeface="Times New Roman MT"/>
                <a:ea typeface="Times New Roman MT"/>
                <a:cs typeface="Times New Roman MT"/>
                <a:sym typeface="Times New Roman MT"/>
              </a:rPr>
              <a:t>Pragatheeswaran (RA2411047050067)</a:t>
            </a:r>
          </a:p>
        </p:txBody>
      </p:sp>
      <p:sp>
        <p:nvSpPr>
          <p:cNvPr name="TextBox 7" id="7"/>
          <p:cNvSpPr txBox="true"/>
          <p:nvPr/>
        </p:nvSpPr>
        <p:spPr>
          <a:xfrm rot="0">
            <a:off x="5816260" y="7186898"/>
            <a:ext cx="111662" cy="1185472"/>
          </a:xfrm>
          <a:prstGeom prst="rect">
            <a:avLst/>
          </a:prstGeom>
        </p:spPr>
        <p:txBody>
          <a:bodyPr anchor="t" rtlCol="false" tIns="0" lIns="0" bIns="0" rIns="0">
            <a:spAutoFit/>
          </a:bodyPr>
          <a:lstStyle/>
          <a:p>
            <a:pPr algn="just">
              <a:lnSpc>
                <a:spcPts val="5900"/>
              </a:lnSpc>
            </a:pPr>
            <a:r>
              <a:rPr lang="en-US" b="true" sz="2899">
                <a:solidFill>
                  <a:srgbClr val="000000"/>
                </a:solidFill>
                <a:latin typeface="Times New Roman MT Bold"/>
                <a:ea typeface="Times New Roman MT Bold"/>
                <a:cs typeface="Times New Roman MT Bold"/>
                <a:sym typeface="Times New Roman MT Bold"/>
              </a:rPr>
              <a:t> </a:t>
            </a:r>
          </a:p>
          <a:p>
            <a:pPr algn="just">
              <a:lnSpc>
                <a:spcPts val="1449"/>
              </a:lnSpc>
            </a:pPr>
            <a:r>
              <a:rPr lang="en-US" b="true" sz="2899">
                <a:solidFill>
                  <a:srgbClr val="000000"/>
                </a:solidFill>
                <a:latin typeface="Times New Roman MT Bold"/>
                <a:ea typeface="Times New Roman MT Bold"/>
                <a:cs typeface="Times New Roman MT Bold"/>
                <a:sym typeface="Times New Roman MT Bold"/>
              </a:rPr>
              <a:t> </a:t>
            </a:r>
          </a:p>
        </p:txBody>
      </p:sp>
      <p:sp>
        <p:nvSpPr>
          <p:cNvPr name="TextBox 8" id="8"/>
          <p:cNvSpPr txBox="true"/>
          <p:nvPr/>
        </p:nvSpPr>
        <p:spPr>
          <a:xfrm rot="0">
            <a:off x="5434222" y="8425148"/>
            <a:ext cx="7567755" cy="1675152"/>
          </a:xfrm>
          <a:prstGeom prst="rect">
            <a:avLst/>
          </a:prstGeom>
        </p:spPr>
        <p:txBody>
          <a:bodyPr anchor="t" rtlCol="false" tIns="0" lIns="0" bIns="0" rIns="0">
            <a:spAutoFit/>
          </a:bodyPr>
          <a:lstStyle/>
          <a:p>
            <a:pPr algn="ctr">
              <a:lnSpc>
                <a:spcPts val="7248"/>
              </a:lnSpc>
            </a:pPr>
            <a:r>
              <a:rPr lang="en-US" b="true" sz="2899">
                <a:solidFill>
                  <a:srgbClr val="000000"/>
                </a:solidFill>
                <a:latin typeface="Times New Roman MT Bold"/>
                <a:ea typeface="Times New Roman MT Bold"/>
                <a:cs typeface="Times New Roman MT Bold"/>
                <a:sym typeface="Times New Roman MT Bold"/>
              </a:rPr>
              <a:t>Department Name: </a:t>
            </a:r>
            <a:r>
              <a:rPr lang="en-US" sz="2899">
                <a:solidFill>
                  <a:srgbClr val="000000"/>
                </a:solidFill>
                <a:latin typeface="Times New Roman MT"/>
                <a:ea typeface="Times New Roman MT"/>
                <a:cs typeface="Times New Roman MT"/>
                <a:sym typeface="Times New Roman MT"/>
              </a:rPr>
              <a:t>B.tech Artificial Intelligence</a:t>
            </a:r>
          </a:p>
          <a:p>
            <a:pPr algn="ctr">
              <a:lnSpc>
                <a:spcPts val="2100"/>
              </a:lnSpc>
            </a:pPr>
            <a:r>
              <a:rPr lang="en-US" sz="1800">
                <a:solidFill>
                  <a:srgbClr val="898989"/>
                </a:solidFill>
                <a:latin typeface="Calibri (MS)"/>
                <a:ea typeface="Calibri (MS)"/>
                <a:cs typeface="Calibri (MS)"/>
                <a:sym typeface="Calibri (MS)"/>
              </a:rPr>
              <a:t>School of Computing - SRM Institute of Science &amp; Technology, Tiruchirappalli</a:t>
            </a:r>
          </a:p>
        </p:txBody>
      </p:sp>
      <p:sp>
        <p:nvSpPr>
          <p:cNvPr name="TextBox 9" id="9"/>
          <p:cNvSpPr txBox="true"/>
          <p:nvPr/>
        </p:nvSpPr>
        <p:spPr>
          <a:xfrm rot="0">
            <a:off x="1257300" y="9617392"/>
            <a:ext cx="1066919" cy="344805"/>
          </a:xfrm>
          <a:prstGeom prst="rect">
            <a:avLst/>
          </a:prstGeom>
        </p:spPr>
        <p:txBody>
          <a:bodyPr anchor="t" rtlCol="false" tIns="0" lIns="0" bIns="0" rIns="0">
            <a:spAutoFit/>
          </a:bodyPr>
          <a:lstStyle/>
          <a:p>
            <a:pPr algn="l">
              <a:lnSpc>
                <a:spcPts val="2520"/>
              </a:lnSpc>
            </a:pPr>
            <a:r>
              <a:rPr lang="en-US" sz="1800">
                <a:solidFill>
                  <a:srgbClr val="898989"/>
                </a:solidFill>
                <a:latin typeface="Calibri (MS)"/>
                <a:ea typeface="Calibri (MS)"/>
                <a:cs typeface="Calibri (MS)"/>
                <a:sym typeface="Calibri (MS)"/>
              </a:rPr>
              <a:t>24-01-2026</a:t>
            </a:r>
          </a:p>
        </p:txBody>
      </p:sp>
      <p:sp>
        <p:nvSpPr>
          <p:cNvPr name="TextBox 10" id="10"/>
          <p:cNvSpPr txBox="true"/>
          <p:nvPr/>
        </p:nvSpPr>
        <p:spPr>
          <a:xfrm rot="0">
            <a:off x="16914762" y="9617393"/>
            <a:ext cx="118177" cy="339090"/>
          </a:xfrm>
          <a:prstGeom prst="rect">
            <a:avLst/>
          </a:prstGeom>
        </p:spPr>
        <p:txBody>
          <a:bodyPr anchor="t" rtlCol="false" tIns="0" lIns="0" bIns="0" rIns="0">
            <a:spAutoFit/>
          </a:bodyPr>
          <a:lstStyle/>
          <a:p>
            <a:pPr algn="l">
              <a:lnSpc>
                <a:spcPts val="2520"/>
              </a:lnSpc>
            </a:pPr>
            <a:r>
              <a:rPr lang="en-US" sz="1800">
                <a:solidFill>
                  <a:srgbClr val="898989"/>
                </a:solidFill>
                <a:latin typeface="Calibri (MS)"/>
                <a:ea typeface="Calibri (MS)"/>
                <a:cs typeface="Calibri (MS)"/>
                <a:sym typeface="Calibri (MS)"/>
              </a:rPr>
              <a:t>1</a:t>
            </a:r>
          </a:p>
        </p:txBody>
      </p:sp>
      <p:sp>
        <p:nvSpPr>
          <p:cNvPr name="TextBox 11" id="11"/>
          <p:cNvSpPr txBox="true"/>
          <p:nvPr/>
        </p:nvSpPr>
        <p:spPr>
          <a:xfrm rot="0">
            <a:off x="2345512" y="772129"/>
            <a:ext cx="15942488" cy="2457373"/>
          </a:xfrm>
          <a:prstGeom prst="rect">
            <a:avLst/>
          </a:prstGeom>
        </p:spPr>
        <p:txBody>
          <a:bodyPr anchor="t" rtlCol="false" tIns="0" lIns="0" bIns="0" rIns="0">
            <a:spAutoFit/>
          </a:bodyPr>
          <a:lstStyle/>
          <a:p>
            <a:pPr algn="ctr">
              <a:lnSpc>
                <a:spcPts val="9899"/>
              </a:lnSpc>
            </a:pPr>
            <a:r>
              <a:rPr lang="en-US" sz="7070" b="true">
                <a:solidFill>
                  <a:srgbClr val="000000"/>
                </a:solidFill>
                <a:latin typeface="Canva Sans Bold"/>
                <a:ea typeface="Canva Sans Bold"/>
                <a:cs typeface="Canva Sans Bold"/>
                <a:sym typeface="Canva Sans Bold"/>
              </a:rPr>
              <a:t>Urban Waste recycling optimization system</a:t>
            </a:r>
          </a:p>
        </p:txBody>
      </p:sp>
      <p:sp>
        <p:nvSpPr>
          <p:cNvPr name="TextBox 12" id="12"/>
          <p:cNvSpPr txBox="true"/>
          <p:nvPr/>
        </p:nvSpPr>
        <p:spPr>
          <a:xfrm rot="0">
            <a:off x="4774638" y="4234984"/>
            <a:ext cx="9125545" cy="1646968"/>
          </a:xfrm>
          <a:prstGeom prst="rect">
            <a:avLst/>
          </a:prstGeom>
        </p:spPr>
        <p:txBody>
          <a:bodyPr anchor="t" rtlCol="false" tIns="0" lIns="0" bIns="0" rIns="0">
            <a:spAutoFit/>
          </a:bodyPr>
          <a:lstStyle/>
          <a:p>
            <a:pPr algn="ctr">
              <a:lnSpc>
                <a:spcPts val="4247"/>
              </a:lnSpc>
            </a:pPr>
            <a:r>
              <a:rPr lang="en-US" sz="3033" b="true">
                <a:solidFill>
                  <a:srgbClr val="000000"/>
                </a:solidFill>
                <a:latin typeface="Times New Roman MT Bold"/>
                <a:ea typeface="Times New Roman MT Bold"/>
                <a:cs typeface="Times New Roman MT Bold"/>
                <a:sym typeface="Times New Roman MT Bold"/>
              </a:rPr>
              <a:t>1.</a:t>
            </a:r>
            <a:r>
              <a:rPr lang="en-US" sz="3033">
                <a:solidFill>
                  <a:srgbClr val="000000"/>
                </a:solidFill>
                <a:latin typeface="Times New Roman MT"/>
                <a:ea typeface="Times New Roman MT"/>
                <a:cs typeface="Times New Roman MT"/>
                <a:sym typeface="Times New Roman MT"/>
              </a:rPr>
              <a:t>21CSC202J - Operating System,</a:t>
            </a:r>
          </a:p>
          <a:p>
            <a:pPr algn="ctr">
              <a:lnSpc>
                <a:spcPts val="4247"/>
              </a:lnSpc>
            </a:pPr>
            <a:r>
              <a:rPr lang="en-US" sz="3033" b="true">
                <a:solidFill>
                  <a:srgbClr val="000000"/>
                </a:solidFill>
                <a:latin typeface="Times New Roman MT Bold"/>
                <a:ea typeface="Times New Roman MT Bold"/>
                <a:cs typeface="Times New Roman MT Bold"/>
                <a:sym typeface="Times New Roman MT Bold"/>
              </a:rPr>
              <a:t>2.</a:t>
            </a:r>
            <a:r>
              <a:rPr lang="en-US" sz="3033">
                <a:solidFill>
                  <a:srgbClr val="000000"/>
                </a:solidFill>
                <a:latin typeface="Times New Roman MT"/>
                <a:ea typeface="Times New Roman MT"/>
                <a:cs typeface="Times New Roman MT"/>
                <a:sym typeface="Times New Roman MT"/>
              </a:rPr>
              <a:t>212AIS201J - Foundation Of Artificial Intelligence</a:t>
            </a:r>
          </a:p>
          <a:p>
            <a:pPr algn="ctr">
              <a:lnSpc>
                <a:spcPts val="4247"/>
              </a:lnSpc>
              <a:spcBef>
                <a:spcPct val="0"/>
              </a:spcBef>
            </a:pPr>
            <a:r>
              <a:rPr lang="en-US" b="true" sz="3033">
                <a:solidFill>
                  <a:srgbClr val="000000"/>
                </a:solidFill>
                <a:latin typeface="Times New Roman MT Bold"/>
                <a:ea typeface="Times New Roman MT Bold"/>
                <a:cs typeface="Times New Roman MT Bold"/>
                <a:sym typeface="Times New Roman MT Bold"/>
              </a:rPr>
              <a:t>3.</a:t>
            </a:r>
            <a:r>
              <a:rPr lang="en-US" sz="3033">
                <a:solidFill>
                  <a:srgbClr val="000000"/>
                </a:solidFill>
                <a:latin typeface="Times New Roman MT"/>
                <a:ea typeface="Times New Roman MT"/>
                <a:cs typeface="Times New Roman MT"/>
                <a:sym typeface="Times New Roman MT"/>
              </a:rPr>
              <a:t>21AIC202J - Neural Networks and Machine Learning</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2534307" y="925506"/>
            <a:ext cx="4590931" cy="1007212"/>
          </a:xfrm>
          <a:prstGeom prst="rect">
            <a:avLst/>
          </a:prstGeom>
        </p:spPr>
        <p:txBody>
          <a:bodyPr anchor="t" rtlCol="false" tIns="0" lIns="0" bIns="0" rIns="0">
            <a:spAutoFit/>
          </a:bodyPr>
          <a:lstStyle/>
          <a:p>
            <a:pPr algn="l">
              <a:lnSpc>
                <a:spcPts val="6514"/>
              </a:lnSpc>
            </a:pPr>
            <a:r>
              <a:rPr lang="en-US" b="true" sz="6600">
                <a:solidFill>
                  <a:srgbClr val="000000"/>
                </a:solidFill>
                <a:latin typeface="Calibri (MS) Bold"/>
                <a:ea typeface="Calibri (MS) Bold"/>
                <a:cs typeface="Calibri (MS) Bold"/>
                <a:sym typeface="Calibri (MS) Bold"/>
              </a:rPr>
              <a:t>Introduction:</a:t>
            </a:r>
          </a:p>
        </p:txBody>
      </p:sp>
      <p:sp>
        <p:nvSpPr>
          <p:cNvPr name="TextBox 3" id="3"/>
          <p:cNvSpPr txBox="true"/>
          <p:nvPr/>
        </p:nvSpPr>
        <p:spPr>
          <a:xfrm rot="0">
            <a:off x="1799130" y="1226820"/>
            <a:ext cx="106070" cy="945071"/>
          </a:xfrm>
          <a:prstGeom prst="rect">
            <a:avLst/>
          </a:prstGeom>
        </p:spPr>
        <p:txBody>
          <a:bodyPr anchor="t" rtlCol="false" tIns="0" lIns="0" bIns="0" rIns="0">
            <a:spAutoFit/>
          </a:bodyPr>
          <a:lstStyle/>
          <a:p>
            <a:pPr algn="l">
              <a:lnSpc>
                <a:spcPts val="8188"/>
              </a:lnSpc>
            </a:pPr>
            <a:r>
              <a:rPr lang="en-US" b="true" sz="3275">
                <a:solidFill>
                  <a:srgbClr val="000000"/>
                </a:solidFill>
                <a:latin typeface="Times New Roman MT Bold"/>
                <a:ea typeface="Times New Roman MT Bold"/>
                <a:cs typeface="Times New Roman MT Bold"/>
                <a:sym typeface="Times New Roman MT Bold"/>
              </a:rPr>
              <a:t> </a:t>
            </a:r>
          </a:p>
        </p:txBody>
      </p:sp>
      <p:sp>
        <p:nvSpPr>
          <p:cNvPr name="TextBox 4" id="4"/>
          <p:cNvSpPr txBox="true"/>
          <p:nvPr/>
        </p:nvSpPr>
        <p:spPr>
          <a:xfrm rot="0">
            <a:off x="1005964" y="7886805"/>
            <a:ext cx="93097" cy="515112"/>
          </a:xfrm>
          <a:prstGeom prst="rect">
            <a:avLst/>
          </a:prstGeom>
        </p:spPr>
        <p:txBody>
          <a:bodyPr anchor="t" rtlCol="false" tIns="0" lIns="0" bIns="0" rIns="0">
            <a:spAutoFit/>
          </a:bodyPr>
          <a:lstStyle/>
          <a:p>
            <a:pPr algn="l">
              <a:lnSpc>
                <a:spcPts val="3837"/>
              </a:lnSpc>
            </a:pPr>
            <a:r>
              <a:rPr lang="en-US" sz="2874">
                <a:solidFill>
                  <a:srgbClr val="000000"/>
                </a:solidFill>
                <a:latin typeface="Times New Roman MT"/>
                <a:ea typeface="Times New Roman MT"/>
                <a:cs typeface="Times New Roman MT"/>
                <a:sym typeface="Times New Roman MT"/>
              </a:rPr>
              <a:t> </a:t>
            </a:r>
          </a:p>
        </p:txBody>
      </p:sp>
      <p:sp>
        <p:nvSpPr>
          <p:cNvPr name="TextBox 5" id="5"/>
          <p:cNvSpPr txBox="true"/>
          <p:nvPr/>
        </p:nvSpPr>
        <p:spPr>
          <a:xfrm rot="0">
            <a:off x="1262710" y="2152755"/>
            <a:ext cx="93097" cy="515112"/>
          </a:xfrm>
          <a:prstGeom prst="rect">
            <a:avLst/>
          </a:prstGeom>
        </p:spPr>
        <p:txBody>
          <a:bodyPr anchor="t" rtlCol="false" tIns="0" lIns="0" bIns="0" rIns="0">
            <a:spAutoFit/>
          </a:bodyPr>
          <a:lstStyle/>
          <a:p>
            <a:pPr algn="l">
              <a:lnSpc>
                <a:spcPts val="3837"/>
              </a:lnSpc>
            </a:pPr>
            <a:r>
              <a:rPr lang="en-US" sz="2874">
                <a:solidFill>
                  <a:srgbClr val="000000"/>
                </a:solidFill>
                <a:latin typeface="Times New Roman MT"/>
                <a:ea typeface="Times New Roman MT"/>
                <a:cs typeface="Times New Roman MT"/>
                <a:sym typeface="Times New Roman MT"/>
              </a:rPr>
              <a:t> </a:t>
            </a:r>
          </a:p>
        </p:txBody>
      </p:sp>
      <p:sp>
        <p:nvSpPr>
          <p:cNvPr name="TextBox 6" id="6"/>
          <p:cNvSpPr txBox="true"/>
          <p:nvPr/>
        </p:nvSpPr>
        <p:spPr>
          <a:xfrm rot="0">
            <a:off x="2519343" y="4086330"/>
            <a:ext cx="93097" cy="515112"/>
          </a:xfrm>
          <a:prstGeom prst="rect">
            <a:avLst/>
          </a:prstGeom>
        </p:spPr>
        <p:txBody>
          <a:bodyPr anchor="t" rtlCol="false" tIns="0" lIns="0" bIns="0" rIns="0">
            <a:spAutoFit/>
          </a:bodyPr>
          <a:lstStyle/>
          <a:p>
            <a:pPr algn="l">
              <a:lnSpc>
                <a:spcPts val="3837"/>
              </a:lnSpc>
            </a:pPr>
            <a:r>
              <a:rPr lang="en-US" sz="2874">
                <a:solidFill>
                  <a:srgbClr val="000000"/>
                </a:solidFill>
                <a:latin typeface="Times New Roman MT"/>
                <a:ea typeface="Times New Roman MT"/>
                <a:cs typeface="Times New Roman MT"/>
                <a:sym typeface="Times New Roman MT"/>
              </a:rPr>
              <a:t> </a:t>
            </a:r>
          </a:p>
        </p:txBody>
      </p:sp>
      <p:sp>
        <p:nvSpPr>
          <p:cNvPr name="TextBox 7" id="7"/>
          <p:cNvSpPr txBox="true"/>
          <p:nvPr/>
        </p:nvSpPr>
        <p:spPr>
          <a:xfrm rot="0">
            <a:off x="1257300" y="9617392"/>
            <a:ext cx="1066919" cy="344805"/>
          </a:xfrm>
          <a:prstGeom prst="rect">
            <a:avLst/>
          </a:prstGeom>
        </p:spPr>
        <p:txBody>
          <a:bodyPr anchor="t" rtlCol="false" tIns="0" lIns="0" bIns="0" rIns="0">
            <a:spAutoFit/>
          </a:bodyPr>
          <a:lstStyle/>
          <a:p>
            <a:pPr algn="l">
              <a:lnSpc>
                <a:spcPts val="2520"/>
              </a:lnSpc>
            </a:pPr>
            <a:r>
              <a:rPr lang="en-US" sz="1800">
                <a:solidFill>
                  <a:srgbClr val="898989"/>
                </a:solidFill>
                <a:latin typeface="Calibri (MS)"/>
                <a:ea typeface="Calibri (MS)"/>
                <a:cs typeface="Calibri (MS)"/>
                <a:sym typeface="Calibri (MS)"/>
              </a:rPr>
              <a:t>24-01-2026</a:t>
            </a:r>
          </a:p>
        </p:txBody>
      </p:sp>
      <p:sp>
        <p:nvSpPr>
          <p:cNvPr name="TextBox 8" id="8"/>
          <p:cNvSpPr txBox="true"/>
          <p:nvPr/>
        </p:nvSpPr>
        <p:spPr>
          <a:xfrm rot="0">
            <a:off x="6274441" y="9522143"/>
            <a:ext cx="5853665" cy="567690"/>
          </a:xfrm>
          <a:prstGeom prst="rect">
            <a:avLst/>
          </a:prstGeom>
        </p:spPr>
        <p:txBody>
          <a:bodyPr anchor="t" rtlCol="false" tIns="0" lIns="0" bIns="0" rIns="0">
            <a:spAutoFit/>
          </a:bodyPr>
          <a:lstStyle/>
          <a:p>
            <a:pPr algn="ctr">
              <a:lnSpc>
                <a:spcPts val="2100"/>
              </a:lnSpc>
            </a:pPr>
            <a:r>
              <a:rPr lang="en-US" sz="1800">
                <a:solidFill>
                  <a:srgbClr val="898989"/>
                </a:solidFill>
                <a:latin typeface="Calibri (MS)"/>
                <a:ea typeface="Calibri (MS)"/>
                <a:cs typeface="Calibri (MS)"/>
                <a:sym typeface="Calibri (MS)"/>
              </a:rPr>
              <a:t>School of Computing - SRM Institute of Science &amp; Technology, Tiruchirappalli</a:t>
            </a:r>
          </a:p>
        </p:txBody>
      </p:sp>
      <p:sp>
        <p:nvSpPr>
          <p:cNvPr name="TextBox 9" id="9"/>
          <p:cNvSpPr txBox="true"/>
          <p:nvPr/>
        </p:nvSpPr>
        <p:spPr>
          <a:xfrm rot="0">
            <a:off x="16914762" y="9617393"/>
            <a:ext cx="118177" cy="339090"/>
          </a:xfrm>
          <a:prstGeom prst="rect">
            <a:avLst/>
          </a:prstGeom>
        </p:spPr>
        <p:txBody>
          <a:bodyPr anchor="t" rtlCol="false" tIns="0" lIns="0" bIns="0" rIns="0">
            <a:spAutoFit/>
          </a:bodyPr>
          <a:lstStyle/>
          <a:p>
            <a:pPr algn="l">
              <a:lnSpc>
                <a:spcPts val="2520"/>
              </a:lnSpc>
            </a:pPr>
            <a:r>
              <a:rPr lang="en-US" sz="1800">
                <a:solidFill>
                  <a:srgbClr val="898989"/>
                </a:solidFill>
                <a:latin typeface="Calibri (MS)"/>
                <a:ea typeface="Calibri (MS)"/>
                <a:cs typeface="Calibri (MS)"/>
                <a:sym typeface="Calibri (MS)"/>
              </a:rPr>
              <a:t>2</a:t>
            </a:r>
          </a:p>
        </p:txBody>
      </p:sp>
      <p:sp>
        <p:nvSpPr>
          <p:cNvPr name="TextBox 10" id="10"/>
          <p:cNvSpPr txBox="true"/>
          <p:nvPr/>
        </p:nvSpPr>
        <p:spPr>
          <a:xfrm rot="0">
            <a:off x="0" y="2162280"/>
            <a:ext cx="6578689" cy="1315930"/>
          </a:xfrm>
          <a:prstGeom prst="rect">
            <a:avLst/>
          </a:prstGeom>
        </p:spPr>
        <p:txBody>
          <a:bodyPr anchor="t" rtlCol="false" tIns="0" lIns="0" bIns="0" rIns="0">
            <a:spAutoFit/>
          </a:bodyPr>
          <a:lstStyle/>
          <a:p>
            <a:pPr algn="ctr">
              <a:lnSpc>
                <a:spcPts val="5219"/>
              </a:lnSpc>
            </a:pPr>
            <a:r>
              <a:rPr lang="en-US" sz="3728" b="true">
                <a:solidFill>
                  <a:srgbClr val="000000"/>
                </a:solidFill>
                <a:latin typeface="Canva Sans Bold"/>
                <a:ea typeface="Canva Sans Bold"/>
                <a:cs typeface="Canva Sans Bold"/>
                <a:sym typeface="Canva Sans Bold"/>
              </a:rPr>
              <a:t>1. Background and Context:</a:t>
            </a:r>
          </a:p>
          <a:p>
            <a:pPr algn="ctr">
              <a:lnSpc>
                <a:spcPts val="5219"/>
              </a:lnSpc>
            </a:pPr>
          </a:p>
        </p:txBody>
      </p:sp>
      <p:sp>
        <p:nvSpPr>
          <p:cNvPr name="Freeform 11" id="11"/>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12" id="12"/>
          <p:cNvSpPr txBox="true"/>
          <p:nvPr/>
        </p:nvSpPr>
        <p:spPr>
          <a:xfrm rot="0">
            <a:off x="0" y="3041420"/>
            <a:ext cx="18288000" cy="2980690"/>
          </a:xfrm>
          <a:prstGeom prst="rect">
            <a:avLst/>
          </a:prstGeom>
        </p:spPr>
        <p:txBody>
          <a:bodyPr anchor="t" rtlCol="false" tIns="0" lIns="0" bIns="0" rIns="0">
            <a:spAutoFit/>
          </a:bodyPr>
          <a:lstStyle/>
          <a:p>
            <a:pPr algn="ctr">
              <a:lnSpc>
                <a:spcPts val="4759"/>
              </a:lnSpc>
            </a:pPr>
            <a:r>
              <a:rPr lang="en-US" sz="3399">
                <a:solidFill>
                  <a:srgbClr val="000000"/>
                </a:solidFill>
                <a:latin typeface="Canva Sans"/>
                <a:ea typeface="Canva Sans"/>
                <a:cs typeface="Canva Sans"/>
                <a:sym typeface="Canva Sans"/>
              </a:rPr>
              <a:t>Rapi</a:t>
            </a:r>
            <a:r>
              <a:rPr lang="en-US" sz="3399">
                <a:solidFill>
                  <a:srgbClr val="000000"/>
                </a:solidFill>
                <a:latin typeface="Canva Sans"/>
                <a:ea typeface="Canva Sans"/>
                <a:cs typeface="Canva Sans"/>
                <a:sym typeface="Canva Sans"/>
              </a:rPr>
              <a:t>d urbanization and population growth have precipitated a global waste management crisis, with cities worldwide struggling to manage exponentially increasing volumes of municipal solid waste (MSW). The World Bank estimates that annual global waste generation will reach 3.4 billion tonnes by 2050—a 70% increase from 2016 levels—with urban areas accounting for the majority of this output</a:t>
            </a:r>
          </a:p>
        </p:txBody>
      </p:sp>
      <p:sp>
        <p:nvSpPr>
          <p:cNvPr name="TextBox 13" id="13"/>
          <p:cNvSpPr txBox="true"/>
          <p:nvPr/>
        </p:nvSpPr>
        <p:spPr>
          <a:xfrm rot="0">
            <a:off x="-726791" y="6211740"/>
            <a:ext cx="8489264" cy="648208"/>
          </a:xfrm>
          <a:prstGeom prst="rect">
            <a:avLst/>
          </a:prstGeom>
        </p:spPr>
        <p:txBody>
          <a:bodyPr anchor="t" rtlCol="false" tIns="0" lIns="0" bIns="0" rIns="0">
            <a:spAutoFit/>
          </a:bodyPr>
          <a:lstStyle/>
          <a:p>
            <a:pPr algn="ctr">
              <a:lnSpc>
                <a:spcPts val="5221"/>
              </a:lnSpc>
            </a:pPr>
            <a:r>
              <a:rPr lang="en-US" sz="3729" b="true">
                <a:solidFill>
                  <a:srgbClr val="000000"/>
                </a:solidFill>
                <a:latin typeface="Canva Sans Bold"/>
                <a:ea typeface="Canva Sans Bold"/>
                <a:cs typeface="Canva Sans Bold"/>
                <a:sym typeface="Canva Sans Bold"/>
              </a:rPr>
              <a:t>2.Problems Created by waste:</a:t>
            </a:r>
          </a:p>
        </p:txBody>
      </p:sp>
      <p:sp>
        <p:nvSpPr>
          <p:cNvPr name="TextBox 14" id="14"/>
          <p:cNvSpPr txBox="true"/>
          <p:nvPr/>
        </p:nvSpPr>
        <p:spPr>
          <a:xfrm rot="0">
            <a:off x="473661" y="7068629"/>
            <a:ext cx="6651577" cy="2380530"/>
          </a:xfrm>
          <a:prstGeom prst="rect">
            <a:avLst/>
          </a:prstGeom>
        </p:spPr>
        <p:txBody>
          <a:bodyPr anchor="t" rtlCol="false" tIns="0" lIns="0" bIns="0" rIns="0">
            <a:spAutoFit/>
          </a:bodyPr>
          <a:lstStyle/>
          <a:p>
            <a:pPr algn="l" marL="734785" indent="-367392" lvl="1">
              <a:lnSpc>
                <a:spcPts val="4764"/>
              </a:lnSpc>
              <a:buFont typeface="Arial"/>
              <a:buChar char="•"/>
            </a:pPr>
            <a:r>
              <a:rPr lang="en-US" sz="3403">
                <a:solidFill>
                  <a:srgbClr val="000000"/>
                </a:solidFill>
                <a:latin typeface="Canva Sans"/>
                <a:ea typeface="Canva Sans"/>
                <a:cs typeface="Canva Sans"/>
                <a:sym typeface="Canva Sans"/>
              </a:rPr>
              <a:t>Public health Emergencies.</a:t>
            </a:r>
          </a:p>
          <a:p>
            <a:pPr algn="l" marL="734785" indent="-367392" lvl="1">
              <a:lnSpc>
                <a:spcPts val="4764"/>
              </a:lnSpc>
              <a:buFont typeface="Arial"/>
              <a:buChar char="•"/>
            </a:pPr>
            <a:r>
              <a:rPr lang="en-US" sz="3403">
                <a:solidFill>
                  <a:srgbClr val="000000"/>
                </a:solidFill>
                <a:latin typeface="Canva Sans"/>
                <a:ea typeface="Canva Sans"/>
                <a:cs typeface="Canva Sans"/>
                <a:sym typeface="Canva Sans"/>
              </a:rPr>
              <a:t>Drainage system failure.</a:t>
            </a:r>
          </a:p>
          <a:p>
            <a:pPr algn="l" marL="734785" indent="-367392" lvl="1">
              <a:lnSpc>
                <a:spcPts val="4764"/>
              </a:lnSpc>
              <a:buFont typeface="Arial"/>
              <a:buChar char="•"/>
            </a:pPr>
            <a:r>
              <a:rPr lang="en-US" sz="3403">
                <a:solidFill>
                  <a:srgbClr val="000000"/>
                </a:solidFill>
                <a:latin typeface="Canva Sans"/>
                <a:ea typeface="Canva Sans"/>
                <a:cs typeface="Canva Sans"/>
                <a:sym typeface="Canva Sans"/>
              </a:rPr>
              <a:t>Soil Ecosystem Collapse.</a:t>
            </a:r>
          </a:p>
          <a:p>
            <a:pPr algn="l" marL="734785" indent="-367392" lvl="1">
              <a:lnSpc>
                <a:spcPts val="4764"/>
              </a:lnSpc>
              <a:buFont typeface="Arial"/>
              <a:buChar char="•"/>
            </a:pPr>
            <a:r>
              <a:rPr lang="en-US" sz="3403">
                <a:solidFill>
                  <a:srgbClr val="000000"/>
                </a:solidFill>
                <a:latin typeface="Canva Sans"/>
                <a:ea typeface="Canva Sans"/>
                <a:cs typeface="Canva Sans"/>
                <a:sym typeface="Canva Sans"/>
              </a:rPr>
              <a:t>Freshwater Contamination.</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2322335" y="535789"/>
            <a:ext cx="7081330" cy="1811020"/>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Pro</a:t>
            </a:r>
            <a:r>
              <a:rPr lang="en-US" b="true" sz="5199">
                <a:solidFill>
                  <a:srgbClr val="000000"/>
                </a:solidFill>
                <a:latin typeface="Canva Sans Bold"/>
                <a:ea typeface="Canva Sans Bold"/>
                <a:cs typeface="Canva Sans Bold"/>
                <a:sym typeface="Canva Sans Bold"/>
              </a:rPr>
              <a:t>blem Statement:</a:t>
            </a:r>
          </a:p>
          <a:p>
            <a:pPr algn="ctr">
              <a:lnSpc>
                <a:spcPts val="7279"/>
              </a:lnSpc>
            </a:pPr>
          </a:p>
        </p:txBody>
      </p:sp>
      <p:sp>
        <p:nvSpPr>
          <p:cNvPr name="TextBox 4" id="4"/>
          <p:cNvSpPr txBox="true"/>
          <p:nvPr/>
        </p:nvSpPr>
        <p:spPr>
          <a:xfrm rot="0">
            <a:off x="-2738047" y="5147594"/>
            <a:ext cx="8882184" cy="629920"/>
          </a:xfrm>
          <a:prstGeom prst="rect">
            <a:avLst/>
          </a:prstGeom>
        </p:spPr>
        <p:txBody>
          <a:bodyPr anchor="t" rtlCol="false" tIns="0" lIns="0" bIns="0" rIns="0">
            <a:spAutoFit/>
          </a:bodyPr>
          <a:lstStyle/>
          <a:p>
            <a:pPr algn="ctr">
              <a:lnSpc>
                <a:spcPts val="5179"/>
              </a:lnSpc>
            </a:pPr>
            <a:r>
              <a:rPr lang="en-US" sz="3699" b="true">
                <a:solidFill>
                  <a:srgbClr val="000000"/>
                </a:solidFill>
                <a:latin typeface="Canva Sans Bold"/>
                <a:ea typeface="Canva Sans Bold"/>
                <a:cs typeface="Canva Sans Bold"/>
                <a:sym typeface="Canva Sans Bold"/>
              </a:rPr>
              <a:t>Key issues:</a:t>
            </a:r>
          </a:p>
        </p:txBody>
      </p:sp>
      <p:sp>
        <p:nvSpPr>
          <p:cNvPr name="TextBox 5" id="5"/>
          <p:cNvSpPr txBox="true"/>
          <p:nvPr/>
        </p:nvSpPr>
        <p:spPr>
          <a:xfrm rot="0">
            <a:off x="0" y="2472656"/>
            <a:ext cx="18288000" cy="2380615"/>
          </a:xfrm>
          <a:prstGeom prst="rect">
            <a:avLst/>
          </a:prstGeom>
        </p:spPr>
        <p:txBody>
          <a:bodyPr anchor="t" rtlCol="false" tIns="0" lIns="0" bIns="0" rIns="0">
            <a:spAutoFit/>
          </a:bodyPr>
          <a:lstStyle/>
          <a:p>
            <a:pPr algn="ctr">
              <a:lnSpc>
                <a:spcPts val="4759"/>
              </a:lnSpc>
            </a:pPr>
            <a:r>
              <a:rPr lang="en-US" sz="3399">
                <a:solidFill>
                  <a:srgbClr val="000000"/>
                </a:solidFill>
                <a:latin typeface="Canva Sans"/>
                <a:ea typeface="Canva Sans"/>
                <a:cs typeface="Canva Sans"/>
                <a:sym typeface="Canva Sans"/>
              </a:rPr>
              <a:t>Tra</a:t>
            </a:r>
            <a:r>
              <a:rPr lang="en-US" sz="3399">
                <a:solidFill>
                  <a:srgbClr val="000000"/>
                </a:solidFill>
                <a:latin typeface="Canva Sans"/>
                <a:ea typeface="Canva Sans"/>
                <a:cs typeface="Canva Sans"/>
                <a:sym typeface="Canva Sans"/>
              </a:rPr>
              <a:t>ditional waste management systems operate on fixed schedules and static routes, relying on historical averages rather than real-time demand. This reactive approach results in inefficient collection routes, underutilized recycling streams, overflowing bins, and unnecessary fuel consumption.</a:t>
            </a:r>
          </a:p>
        </p:txBody>
      </p:sp>
      <p:sp>
        <p:nvSpPr>
          <p:cNvPr name="TextBox 6" id="6"/>
          <p:cNvSpPr txBox="true"/>
          <p:nvPr/>
        </p:nvSpPr>
        <p:spPr>
          <a:xfrm rot="0">
            <a:off x="0" y="6071836"/>
            <a:ext cx="18288000" cy="4180840"/>
          </a:xfrm>
          <a:prstGeom prst="rect">
            <a:avLst/>
          </a:prstGeom>
        </p:spPr>
        <p:txBody>
          <a:bodyPr anchor="t" rtlCol="false" tIns="0" lIns="0" bIns="0" rIns="0">
            <a:spAutoFit/>
          </a:bodyPr>
          <a:lstStyle/>
          <a:p>
            <a:pPr algn="just">
              <a:lnSpc>
                <a:spcPts val="4759"/>
              </a:lnSpc>
            </a:pPr>
            <a:r>
              <a:rPr lang="en-US" sz="3399">
                <a:solidFill>
                  <a:srgbClr val="000000"/>
                </a:solidFill>
                <a:latin typeface="Canva Sans"/>
                <a:ea typeface="Canva Sans"/>
                <a:cs typeface="Canva Sans"/>
                <a:sym typeface="Canva Sans"/>
              </a:rPr>
              <a:t>(</a:t>
            </a:r>
            <a:r>
              <a:rPr lang="en-US" sz="3399" b="true">
                <a:solidFill>
                  <a:srgbClr val="000000"/>
                </a:solidFill>
                <a:latin typeface="Canva Sans Bold"/>
                <a:ea typeface="Canva Sans Bold"/>
                <a:cs typeface="Canva Sans Bold"/>
                <a:sym typeface="Canva Sans Bold"/>
              </a:rPr>
              <a:t>1)</a:t>
            </a:r>
            <a:r>
              <a:rPr lang="en-US" sz="3399">
                <a:solidFill>
                  <a:srgbClr val="000000"/>
                </a:solidFill>
                <a:latin typeface="Canva Sans"/>
                <a:ea typeface="Canva Sans"/>
                <a:cs typeface="Canva Sans"/>
                <a:sym typeface="Canva Sans"/>
              </a:rPr>
              <a:t> </a:t>
            </a:r>
            <a:r>
              <a:rPr lang="en-US" sz="3399" b="true">
                <a:solidFill>
                  <a:srgbClr val="000000"/>
                </a:solidFill>
                <a:latin typeface="Canva Sans Bold"/>
                <a:ea typeface="Canva Sans Bold"/>
                <a:cs typeface="Canva Sans Bold"/>
                <a:sym typeface="Canva Sans Bold"/>
              </a:rPr>
              <a:t>Pre</a:t>
            </a:r>
            <a:r>
              <a:rPr lang="en-US" b="true" sz="3399">
                <a:solidFill>
                  <a:srgbClr val="000000"/>
                </a:solidFill>
                <a:latin typeface="Canva Sans Bold"/>
                <a:ea typeface="Canva Sans Bold"/>
                <a:cs typeface="Canva Sans Bold"/>
                <a:sym typeface="Canva Sans Bold"/>
              </a:rPr>
              <a:t>dictive Incapacity—</a:t>
            </a:r>
            <a:r>
              <a:rPr lang="en-US" sz="3399">
                <a:solidFill>
                  <a:srgbClr val="000000"/>
                </a:solidFill>
                <a:latin typeface="Canva Sans"/>
                <a:ea typeface="Canva Sans"/>
                <a:cs typeface="Canva Sans"/>
                <a:sym typeface="Canva Sans"/>
              </a:rPr>
              <a:t>inability to accurately forecast waste generation patterns across temporal and spatial dimensions;</a:t>
            </a:r>
          </a:p>
          <a:p>
            <a:pPr algn="just">
              <a:lnSpc>
                <a:spcPts val="4759"/>
              </a:lnSpc>
            </a:pPr>
            <a:r>
              <a:rPr lang="en-US" sz="3399">
                <a:solidFill>
                  <a:srgbClr val="000000"/>
                </a:solidFill>
                <a:latin typeface="Canva Sans"/>
                <a:ea typeface="Canva Sans"/>
                <a:cs typeface="Canva Sans"/>
                <a:sym typeface="Canva Sans"/>
              </a:rPr>
              <a:t> </a:t>
            </a:r>
            <a:r>
              <a:rPr lang="en-US" b="true" sz="3399">
                <a:solidFill>
                  <a:srgbClr val="000000"/>
                </a:solidFill>
                <a:latin typeface="Canva Sans Bold"/>
                <a:ea typeface="Canva Sans Bold"/>
                <a:cs typeface="Canva Sans Bold"/>
                <a:sym typeface="Canva Sans Bold"/>
              </a:rPr>
              <a:t>(2) Operational Inefficiency—</a:t>
            </a:r>
            <a:r>
              <a:rPr lang="en-US" sz="3399">
                <a:solidFill>
                  <a:srgbClr val="000000"/>
                </a:solidFill>
                <a:latin typeface="Canva Sans"/>
                <a:ea typeface="Canva Sans"/>
                <a:cs typeface="Canva Sans"/>
                <a:sym typeface="Canva Sans"/>
              </a:rPr>
              <a:t>suboptimal allocation of collection resources and processing facilities; </a:t>
            </a:r>
          </a:p>
          <a:p>
            <a:pPr algn="just">
              <a:lnSpc>
                <a:spcPts val="4759"/>
              </a:lnSpc>
            </a:pPr>
            <a:r>
              <a:rPr lang="en-US" sz="3399">
                <a:solidFill>
                  <a:srgbClr val="000000"/>
                </a:solidFill>
                <a:latin typeface="Canva Sans"/>
                <a:ea typeface="Canva Sans"/>
                <a:cs typeface="Canva Sans"/>
                <a:sym typeface="Canva Sans"/>
              </a:rPr>
              <a:t> </a:t>
            </a:r>
            <a:r>
              <a:rPr lang="en-US" b="true" sz="3399">
                <a:solidFill>
                  <a:srgbClr val="000000"/>
                </a:solidFill>
                <a:latin typeface="Canva Sans Bold"/>
                <a:ea typeface="Canva Sans Bold"/>
                <a:cs typeface="Canva Sans Bold"/>
                <a:sym typeface="Canva Sans Bold"/>
              </a:rPr>
              <a:t>(3) Recycling Ineffectiveness—</a:t>
            </a:r>
            <a:r>
              <a:rPr lang="en-US" sz="3399">
                <a:solidFill>
                  <a:srgbClr val="000000"/>
                </a:solidFill>
                <a:latin typeface="Canva Sans"/>
                <a:ea typeface="Canva Sans"/>
                <a:cs typeface="Canva Sans"/>
                <a:sym typeface="Canva Sans"/>
              </a:rPr>
              <a:t>low recovery rates due to contamination and poor sorting. Existing solutions often address these issues in isolation, lacking an integrated framework that synergistically combines predictive analytics.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2534307" y="1335976"/>
            <a:ext cx="5999679" cy="1811020"/>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Prim</a:t>
            </a:r>
            <a:r>
              <a:rPr lang="en-US" b="true" sz="5199">
                <a:solidFill>
                  <a:srgbClr val="000000"/>
                </a:solidFill>
                <a:latin typeface="Canva Sans Bold"/>
                <a:ea typeface="Canva Sans Bold"/>
                <a:cs typeface="Canva Sans Bold"/>
                <a:sym typeface="Canva Sans Bold"/>
              </a:rPr>
              <a:t>ary Objective:</a:t>
            </a:r>
          </a:p>
          <a:p>
            <a:pPr algn="ctr">
              <a:lnSpc>
                <a:spcPts val="7279"/>
              </a:lnSpc>
            </a:pPr>
          </a:p>
        </p:txBody>
      </p:sp>
      <p:sp>
        <p:nvSpPr>
          <p:cNvPr name="TextBox 4" id="4"/>
          <p:cNvSpPr txBox="true"/>
          <p:nvPr/>
        </p:nvSpPr>
        <p:spPr>
          <a:xfrm rot="0">
            <a:off x="0" y="2667867"/>
            <a:ext cx="18288000" cy="2380615"/>
          </a:xfrm>
          <a:prstGeom prst="rect">
            <a:avLst/>
          </a:prstGeom>
        </p:spPr>
        <p:txBody>
          <a:bodyPr anchor="t" rtlCol="false" tIns="0" lIns="0" bIns="0" rIns="0">
            <a:spAutoFit/>
          </a:bodyPr>
          <a:lstStyle/>
          <a:p>
            <a:pPr algn="ctr">
              <a:lnSpc>
                <a:spcPts val="4759"/>
              </a:lnSpc>
            </a:pPr>
            <a:r>
              <a:rPr lang="en-US" sz="3399">
                <a:solidFill>
                  <a:srgbClr val="000000"/>
                </a:solidFill>
                <a:latin typeface="Canva Sans"/>
                <a:ea typeface="Canva Sans"/>
                <a:cs typeface="Canva Sans"/>
                <a:sym typeface="Canva Sans"/>
              </a:rPr>
              <a:t>To develop and validate an integrated artificial intelligence-driven system that synergistically combines predictive analytics with prescriptive optimization for sustainable urban waste management, thereby transforming municipal solid waste (MSW) operations from reactive cost centers to proactive, circular economy enablers.</a:t>
            </a:r>
          </a:p>
        </p:txBody>
      </p:sp>
      <p:sp>
        <p:nvSpPr>
          <p:cNvPr name="TextBox 5" id="5"/>
          <p:cNvSpPr txBox="true"/>
          <p:nvPr/>
        </p:nvSpPr>
        <p:spPr>
          <a:xfrm rot="0">
            <a:off x="0" y="5445334"/>
            <a:ext cx="6998294" cy="1233805"/>
          </a:xfrm>
          <a:prstGeom prst="rect">
            <a:avLst/>
          </a:prstGeom>
        </p:spPr>
        <p:txBody>
          <a:bodyPr anchor="t" rtlCol="false" tIns="0" lIns="0" bIns="0" rIns="0">
            <a:spAutoFit/>
          </a:bodyPr>
          <a:lstStyle/>
          <a:p>
            <a:pPr algn="ctr">
              <a:lnSpc>
                <a:spcPts val="5179"/>
              </a:lnSpc>
            </a:pPr>
            <a:r>
              <a:rPr lang="en-US" sz="3699" b="true">
                <a:solidFill>
                  <a:srgbClr val="000000"/>
                </a:solidFill>
                <a:latin typeface="Canva Sans Bold"/>
                <a:ea typeface="Canva Sans Bold"/>
                <a:cs typeface="Canva Sans Bold"/>
                <a:sym typeface="Canva Sans Bold"/>
              </a:rPr>
              <a:t>Sp</a:t>
            </a:r>
            <a:r>
              <a:rPr lang="en-US" b="true" sz="3699">
                <a:solidFill>
                  <a:srgbClr val="000000"/>
                </a:solidFill>
                <a:latin typeface="Canva Sans Bold"/>
                <a:ea typeface="Canva Sans Bold"/>
                <a:cs typeface="Canva Sans Bold"/>
                <a:sym typeface="Canva Sans Bold"/>
              </a:rPr>
              <a:t>ecific Research Objectives:</a:t>
            </a:r>
          </a:p>
          <a:p>
            <a:pPr algn="ctr">
              <a:lnSpc>
                <a:spcPts val="4759"/>
              </a:lnSpc>
            </a:pPr>
          </a:p>
        </p:txBody>
      </p:sp>
      <p:sp>
        <p:nvSpPr>
          <p:cNvPr name="TextBox 6" id="6"/>
          <p:cNvSpPr txBox="true"/>
          <p:nvPr/>
        </p:nvSpPr>
        <p:spPr>
          <a:xfrm rot="0">
            <a:off x="1196728" y="6372302"/>
            <a:ext cx="10168774" cy="4440671"/>
          </a:xfrm>
          <a:prstGeom prst="rect">
            <a:avLst/>
          </a:prstGeom>
        </p:spPr>
        <p:txBody>
          <a:bodyPr anchor="t" rtlCol="false" tIns="0" lIns="0" bIns="0" rIns="0">
            <a:spAutoFit/>
          </a:bodyPr>
          <a:lstStyle/>
          <a:p>
            <a:pPr algn="l">
              <a:lnSpc>
                <a:spcPts val="5037"/>
              </a:lnSpc>
            </a:pPr>
            <a:r>
              <a:rPr lang="en-US" sz="3598">
                <a:solidFill>
                  <a:srgbClr val="000000"/>
                </a:solidFill>
                <a:latin typeface="Canva Sans"/>
                <a:ea typeface="Canva Sans"/>
                <a:cs typeface="Canva Sans"/>
                <a:sym typeface="Canva Sans"/>
              </a:rPr>
              <a:t>1.</a:t>
            </a:r>
            <a:r>
              <a:rPr lang="en-US" sz="3598">
                <a:solidFill>
                  <a:srgbClr val="000000"/>
                </a:solidFill>
                <a:latin typeface="Canva Sans"/>
                <a:ea typeface="Canva Sans"/>
                <a:cs typeface="Canva Sans"/>
                <a:sym typeface="Canva Sans"/>
              </a:rPr>
              <a:t> Predictive Modeling.</a:t>
            </a:r>
          </a:p>
          <a:p>
            <a:pPr algn="l">
              <a:lnSpc>
                <a:spcPts val="5037"/>
              </a:lnSpc>
            </a:pPr>
            <a:r>
              <a:rPr lang="en-US" sz="3598">
                <a:solidFill>
                  <a:srgbClr val="000000"/>
                </a:solidFill>
                <a:latin typeface="Canva Sans"/>
                <a:ea typeface="Canva Sans"/>
                <a:cs typeface="Canva Sans"/>
                <a:sym typeface="Canva Sans"/>
              </a:rPr>
              <a:t>2. Optimization and Operationall</a:t>
            </a:r>
          </a:p>
          <a:p>
            <a:pPr algn="l">
              <a:lnSpc>
                <a:spcPts val="5037"/>
              </a:lnSpc>
            </a:pPr>
            <a:r>
              <a:rPr lang="en-US" sz="3598">
                <a:solidFill>
                  <a:srgbClr val="000000"/>
                </a:solidFill>
                <a:latin typeface="Canva Sans"/>
                <a:ea typeface="Canva Sans"/>
                <a:cs typeface="Canva Sans"/>
                <a:sym typeface="Canva Sans"/>
              </a:rPr>
              <a:t>3. System Integration</a:t>
            </a:r>
          </a:p>
          <a:p>
            <a:pPr algn="l">
              <a:lnSpc>
                <a:spcPts val="5037"/>
              </a:lnSpc>
            </a:pPr>
            <a:r>
              <a:rPr lang="en-US" sz="3598">
                <a:solidFill>
                  <a:srgbClr val="000000"/>
                </a:solidFill>
                <a:latin typeface="Canva Sans"/>
                <a:ea typeface="Canva Sans"/>
                <a:cs typeface="Canva Sans"/>
                <a:sym typeface="Canva Sans"/>
              </a:rPr>
              <a:t>4. Sustainability and Behavioral</a:t>
            </a:r>
          </a:p>
          <a:p>
            <a:pPr algn="l">
              <a:lnSpc>
                <a:spcPts val="5037"/>
              </a:lnSpc>
            </a:pPr>
            <a:r>
              <a:rPr lang="en-US" sz="3598">
                <a:solidFill>
                  <a:srgbClr val="000000"/>
                </a:solidFill>
                <a:latin typeface="Canva Sans"/>
                <a:ea typeface="Canva Sans"/>
                <a:cs typeface="Canva Sans"/>
                <a:sym typeface="Canva Sans"/>
              </a:rPr>
              <a:t>5. Implementation and Scalability </a:t>
            </a:r>
          </a:p>
          <a:p>
            <a:pPr algn="l">
              <a:lnSpc>
                <a:spcPts val="5037"/>
              </a:lnSpc>
            </a:pPr>
          </a:p>
          <a:p>
            <a:pPr algn="l">
              <a:lnSpc>
                <a:spcPts val="5037"/>
              </a:lnSpc>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2315670" y="933450"/>
            <a:ext cx="11257598" cy="887095"/>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Liter</a:t>
            </a:r>
            <a:r>
              <a:rPr lang="en-US" b="true" sz="5199">
                <a:solidFill>
                  <a:srgbClr val="000000"/>
                </a:solidFill>
                <a:latin typeface="Canva Sans Bold"/>
                <a:ea typeface="Canva Sans Bold"/>
                <a:cs typeface="Canva Sans Bold"/>
                <a:sym typeface="Canva Sans Bold"/>
              </a:rPr>
              <a:t>ature Survey/Existing Systems</a:t>
            </a:r>
          </a:p>
        </p:txBody>
      </p:sp>
      <p:sp>
        <p:nvSpPr>
          <p:cNvPr name="TextBox 4" id="4"/>
          <p:cNvSpPr txBox="true"/>
          <p:nvPr/>
        </p:nvSpPr>
        <p:spPr>
          <a:xfrm rot="0">
            <a:off x="1267154" y="2526746"/>
            <a:ext cx="15479911" cy="2980690"/>
          </a:xfrm>
          <a:prstGeom prst="rect">
            <a:avLst/>
          </a:prstGeom>
        </p:spPr>
        <p:txBody>
          <a:bodyPr anchor="t" rtlCol="false" tIns="0" lIns="0" bIns="0" rIns="0">
            <a:spAutoFit/>
          </a:bodyPr>
          <a:lstStyle/>
          <a:p>
            <a:pPr algn="l" marL="734059" indent="-367030" lvl="1">
              <a:lnSpc>
                <a:spcPts val="4759"/>
              </a:lnSpc>
              <a:buFont typeface="Arial"/>
              <a:buChar char="•"/>
            </a:pPr>
            <a:r>
              <a:rPr lang="en-US" sz="3399">
                <a:solidFill>
                  <a:srgbClr val="000000"/>
                </a:solidFill>
                <a:latin typeface="Canva Sans"/>
                <a:ea typeface="Canva Sans"/>
                <a:cs typeface="Canva Sans"/>
                <a:sym typeface="Canva Sans"/>
              </a:rPr>
              <a:t>Abdallah et al. (2020) - Hybrid LSTM-ARIMA model for waste prediction</a:t>
            </a:r>
          </a:p>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Zhao &amp; Liu (2023)</a:t>
            </a:r>
            <a:r>
              <a:rPr lang="en-US" sz="3399">
                <a:solidFill>
                  <a:srgbClr val="000000"/>
                </a:solidFill>
                <a:latin typeface="Canva Sans"/>
                <a:ea typeface="Canva Sans"/>
                <a:cs typeface="Canva Sans"/>
                <a:sym typeface="Canva Sans"/>
              </a:rPr>
              <a:t> - Graph Neural Networks for spatial waste prediction</a:t>
            </a:r>
          </a:p>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Wang et al. (2022)</a:t>
            </a:r>
            <a:r>
              <a:rPr lang="en-US" sz="3399">
                <a:solidFill>
                  <a:srgbClr val="000000"/>
                </a:solidFill>
                <a:latin typeface="Canva Sans"/>
                <a:ea typeface="Canva Sans"/>
                <a:cs typeface="Canva Sans"/>
                <a:sym typeface="Canva Sans"/>
              </a:rPr>
              <a:t> - Digital twins for waste management</a:t>
            </a:r>
          </a:p>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Gupta et al. (2024)</a:t>
            </a:r>
            <a:r>
              <a:rPr lang="en-US" sz="3399">
                <a:solidFill>
                  <a:srgbClr val="000000"/>
                </a:solidFill>
                <a:latin typeface="Canva Sans"/>
                <a:ea typeface="Canva Sans"/>
                <a:cs typeface="Canva Sans"/>
                <a:sym typeface="Canva Sans"/>
              </a:rPr>
              <a:t> - End-to-end deep learning pipelines</a:t>
            </a:r>
          </a:p>
          <a:p>
            <a:pPr algn="l">
              <a:lnSpc>
                <a:spcPts val="4759"/>
              </a:lnSpc>
            </a:pPr>
          </a:p>
        </p:txBody>
      </p:sp>
      <p:sp>
        <p:nvSpPr>
          <p:cNvPr name="TextBox 5" id="5"/>
          <p:cNvSpPr txBox="true"/>
          <p:nvPr/>
        </p:nvSpPr>
        <p:spPr>
          <a:xfrm rot="0">
            <a:off x="1267154" y="6078936"/>
            <a:ext cx="5457825" cy="2380615"/>
          </a:xfrm>
          <a:prstGeom prst="rect">
            <a:avLst/>
          </a:prstGeom>
        </p:spPr>
        <p:txBody>
          <a:bodyPr anchor="t" rtlCol="false" tIns="0" lIns="0" bIns="0" rIns="0">
            <a:spAutoFit/>
          </a:bodyPr>
          <a:lstStyle/>
          <a:p>
            <a:pPr algn="just"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AMCS Platform</a:t>
            </a:r>
          </a:p>
          <a:p>
            <a:pPr algn="just"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Recycle Track Systems</a:t>
            </a:r>
          </a:p>
          <a:p>
            <a:pPr algn="just"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Rubicon Smart City</a:t>
            </a:r>
          </a:p>
          <a:p>
            <a:pPr algn="just"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Sensoneo</a:t>
            </a:r>
          </a:p>
        </p:txBody>
      </p:sp>
      <p:sp>
        <p:nvSpPr>
          <p:cNvPr name="TextBox 6" id="6"/>
          <p:cNvSpPr txBox="true"/>
          <p:nvPr/>
        </p:nvSpPr>
        <p:spPr>
          <a:xfrm rot="0">
            <a:off x="499548" y="5048250"/>
            <a:ext cx="2894529" cy="887095"/>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Systems: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2534307" y="933450"/>
            <a:ext cx="4408765" cy="1811020"/>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Rese</a:t>
            </a:r>
            <a:r>
              <a:rPr lang="en-US" b="true" sz="5199">
                <a:solidFill>
                  <a:srgbClr val="000000"/>
                </a:solidFill>
                <a:latin typeface="Canva Sans Bold"/>
                <a:ea typeface="Canva Sans Bold"/>
                <a:cs typeface="Canva Sans Bold"/>
                <a:sym typeface="Canva Sans Bold"/>
              </a:rPr>
              <a:t>arch Gap</a:t>
            </a:r>
          </a:p>
          <a:p>
            <a:pPr algn="ctr">
              <a:lnSpc>
                <a:spcPts val="7279"/>
              </a:lnSpc>
            </a:pPr>
          </a:p>
        </p:txBody>
      </p:sp>
      <p:sp>
        <p:nvSpPr>
          <p:cNvPr name="TextBox 4" id="4"/>
          <p:cNvSpPr txBox="true"/>
          <p:nvPr/>
        </p:nvSpPr>
        <p:spPr>
          <a:xfrm rot="0">
            <a:off x="337367" y="2677795"/>
            <a:ext cx="17613265" cy="5762854"/>
          </a:xfrm>
          <a:prstGeom prst="rect">
            <a:avLst/>
          </a:prstGeom>
        </p:spPr>
        <p:txBody>
          <a:bodyPr anchor="t" rtlCol="false" tIns="0" lIns="0" bIns="0" rIns="0">
            <a:spAutoFit/>
          </a:bodyPr>
          <a:lstStyle/>
          <a:p>
            <a:pPr algn="just">
              <a:lnSpc>
                <a:spcPts val="4584"/>
              </a:lnSpc>
            </a:pPr>
            <a:r>
              <a:rPr lang="en-US" sz="3274">
                <a:solidFill>
                  <a:srgbClr val="000000"/>
                </a:solidFill>
                <a:latin typeface="Canva Sans"/>
                <a:ea typeface="Canva Sans"/>
                <a:cs typeface="Canva Sans"/>
                <a:sym typeface="Canva Sans"/>
              </a:rPr>
              <a:t>While recent stu</a:t>
            </a:r>
            <a:r>
              <a:rPr lang="en-US" sz="3274">
                <a:solidFill>
                  <a:srgbClr val="000000"/>
                </a:solidFill>
                <a:latin typeface="Canva Sans"/>
                <a:ea typeface="Canva Sans"/>
                <a:cs typeface="Canva Sans"/>
                <a:sym typeface="Canva Sans"/>
              </a:rPr>
              <a:t>dies have employed machine learning for waste prediction [2,3] or optimization algorithms for route planning [4], few systems holistically integrate these components into a unified, adaptive framework. Furthermore, most models overlook the dynamic interplay between socio-economic factors, environmental variables, and real-time sensor data. There is a critical need for an intelligent urban waste management system that not only predicts generation patterns with high spatiotemporal resolution but also dynamically optimizes collection logistics and recycling processes. This gap presents an opportunity to leverage advancements in Internet of Things (IoT), deep learning, and prescriptive analytics to create a closed-loop system that enhances sustainability and operational efficiency.</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1864721" y="1003262"/>
            <a:ext cx="7762185" cy="1811020"/>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PROPOSED</a:t>
            </a:r>
            <a:r>
              <a:rPr lang="en-US" b="true" sz="5199">
                <a:solidFill>
                  <a:srgbClr val="000000"/>
                </a:solidFill>
                <a:latin typeface="Canva Sans Bold"/>
                <a:ea typeface="Canva Sans Bold"/>
                <a:cs typeface="Canva Sans Bold"/>
                <a:sym typeface="Canva Sans Bold"/>
              </a:rPr>
              <a:t> SYSTEM</a:t>
            </a:r>
          </a:p>
          <a:p>
            <a:pPr algn="ctr">
              <a:lnSpc>
                <a:spcPts val="7279"/>
              </a:lnSpc>
            </a:pPr>
          </a:p>
        </p:txBody>
      </p:sp>
      <p:sp>
        <p:nvSpPr>
          <p:cNvPr name="TextBox 4" id="4"/>
          <p:cNvSpPr txBox="true"/>
          <p:nvPr/>
        </p:nvSpPr>
        <p:spPr>
          <a:xfrm rot="0">
            <a:off x="613880" y="2483196"/>
            <a:ext cx="4539972" cy="1180465"/>
          </a:xfrm>
          <a:prstGeom prst="rect">
            <a:avLst/>
          </a:prstGeom>
        </p:spPr>
        <p:txBody>
          <a:bodyPr anchor="t" rtlCol="false" tIns="0" lIns="0" bIns="0" rIns="0">
            <a:spAutoFit/>
          </a:bodyPr>
          <a:lstStyle/>
          <a:p>
            <a:pPr algn="ctr">
              <a:lnSpc>
                <a:spcPts val="4759"/>
              </a:lnSpc>
            </a:pPr>
            <a:r>
              <a:rPr lang="en-US" sz="3399" b="true">
                <a:solidFill>
                  <a:srgbClr val="000000"/>
                </a:solidFill>
                <a:latin typeface="Canva Sans Bold"/>
                <a:ea typeface="Canva Sans Bold"/>
                <a:cs typeface="Canva Sans Bold"/>
                <a:sym typeface="Canva Sans Bold"/>
              </a:rPr>
              <a:t>1.</a:t>
            </a:r>
            <a:r>
              <a:rPr lang="en-US" b="true" sz="3399">
                <a:solidFill>
                  <a:srgbClr val="000000"/>
                </a:solidFill>
                <a:latin typeface="Canva Sans Bold"/>
                <a:ea typeface="Canva Sans Bold"/>
                <a:cs typeface="Canva Sans Bold"/>
                <a:sym typeface="Canva Sans Bold"/>
              </a:rPr>
              <a:t> SYSTEM OVERVIEW</a:t>
            </a:r>
          </a:p>
          <a:p>
            <a:pPr algn="ctr">
              <a:lnSpc>
                <a:spcPts val="4759"/>
              </a:lnSpc>
            </a:pPr>
          </a:p>
        </p:txBody>
      </p:sp>
      <p:sp>
        <p:nvSpPr>
          <p:cNvPr name="TextBox 5" id="5"/>
          <p:cNvSpPr txBox="true"/>
          <p:nvPr/>
        </p:nvSpPr>
        <p:spPr>
          <a:xfrm rot="0">
            <a:off x="613880" y="3321531"/>
            <a:ext cx="3620810" cy="1180465"/>
          </a:xfrm>
          <a:prstGeom prst="rect">
            <a:avLst/>
          </a:prstGeom>
        </p:spPr>
        <p:txBody>
          <a:bodyPr anchor="t" rtlCol="false" tIns="0" lIns="0" bIns="0" rIns="0">
            <a:spAutoFit/>
          </a:bodyPr>
          <a:lstStyle/>
          <a:p>
            <a:pPr algn="ctr">
              <a:lnSpc>
                <a:spcPts val="4759"/>
              </a:lnSpc>
            </a:pPr>
            <a:r>
              <a:rPr lang="en-US" sz="3399" b="true">
                <a:solidFill>
                  <a:srgbClr val="000000"/>
                </a:solidFill>
                <a:latin typeface="Canva Sans Bold"/>
                <a:ea typeface="Canva Sans Bold"/>
                <a:cs typeface="Canva Sans Bold"/>
                <a:sym typeface="Canva Sans Bold"/>
              </a:rPr>
              <a:t>V</a:t>
            </a:r>
            <a:r>
              <a:rPr lang="en-US" b="true" sz="3399">
                <a:solidFill>
                  <a:srgbClr val="000000"/>
                </a:solidFill>
                <a:latin typeface="Canva Sans Bold"/>
                <a:ea typeface="Canva Sans Bold"/>
                <a:cs typeface="Canva Sans Bold"/>
                <a:sym typeface="Canva Sans Bold"/>
              </a:rPr>
              <a:t>ision Statement</a:t>
            </a:r>
          </a:p>
          <a:p>
            <a:pPr algn="ctr">
              <a:lnSpc>
                <a:spcPts val="4759"/>
              </a:lnSpc>
            </a:pPr>
          </a:p>
        </p:txBody>
      </p:sp>
      <p:sp>
        <p:nvSpPr>
          <p:cNvPr name="TextBox 6" id="6"/>
          <p:cNvSpPr txBox="true"/>
          <p:nvPr/>
        </p:nvSpPr>
        <p:spPr>
          <a:xfrm rot="0">
            <a:off x="0" y="4187536"/>
            <a:ext cx="18288000" cy="2380615"/>
          </a:xfrm>
          <a:prstGeom prst="rect">
            <a:avLst/>
          </a:prstGeom>
        </p:spPr>
        <p:txBody>
          <a:bodyPr anchor="t" rtlCol="false" tIns="0" lIns="0" bIns="0" rIns="0">
            <a:spAutoFit/>
          </a:bodyPr>
          <a:lstStyle/>
          <a:p>
            <a:pPr algn="ctr">
              <a:lnSpc>
                <a:spcPts val="4759"/>
              </a:lnSpc>
            </a:pPr>
            <a:r>
              <a:rPr lang="en-US" sz="3399">
                <a:solidFill>
                  <a:srgbClr val="000000"/>
                </a:solidFill>
                <a:latin typeface="Canva Sans"/>
                <a:ea typeface="Canva Sans"/>
                <a:cs typeface="Canva Sans"/>
                <a:sym typeface="Canva Sans"/>
              </a:rPr>
              <a:t>An Integrated Intelligent Urban Waste Management System (IUWMS) that transforms traditional reactive waste management into a proactive, predictive, and circular economy-enabling platform through the seamless integration of IoT, Artificial Intelligence, and optimization algorithms.</a:t>
            </a:r>
          </a:p>
        </p:txBody>
      </p:sp>
      <p:sp>
        <p:nvSpPr>
          <p:cNvPr name="TextBox 7" id="7"/>
          <p:cNvSpPr txBox="true"/>
          <p:nvPr/>
        </p:nvSpPr>
        <p:spPr>
          <a:xfrm rot="0">
            <a:off x="613880" y="6501476"/>
            <a:ext cx="3469005" cy="1180465"/>
          </a:xfrm>
          <a:prstGeom prst="rect">
            <a:avLst/>
          </a:prstGeom>
        </p:spPr>
        <p:txBody>
          <a:bodyPr anchor="t" rtlCol="false" tIns="0" lIns="0" bIns="0" rIns="0">
            <a:spAutoFit/>
          </a:bodyPr>
          <a:lstStyle/>
          <a:p>
            <a:pPr algn="ctr">
              <a:lnSpc>
                <a:spcPts val="4759"/>
              </a:lnSpc>
            </a:pPr>
            <a:r>
              <a:rPr lang="en-US" sz="3399" b="true">
                <a:solidFill>
                  <a:srgbClr val="000000"/>
                </a:solidFill>
                <a:latin typeface="Canva Sans Bold"/>
                <a:ea typeface="Canva Sans Bold"/>
                <a:cs typeface="Canva Sans Bold"/>
                <a:sym typeface="Canva Sans Bold"/>
              </a:rPr>
              <a:t>Core</a:t>
            </a:r>
            <a:r>
              <a:rPr lang="en-US" b="true" sz="3399">
                <a:solidFill>
                  <a:srgbClr val="000000"/>
                </a:solidFill>
                <a:latin typeface="Canva Sans Bold"/>
                <a:ea typeface="Canva Sans Bold"/>
                <a:cs typeface="Canva Sans Bold"/>
                <a:sym typeface="Canva Sans Bold"/>
              </a:rPr>
              <a:t> Philosophy</a:t>
            </a:r>
          </a:p>
          <a:p>
            <a:pPr algn="ctr">
              <a:lnSpc>
                <a:spcPts val="4759"/>
              </a:lnSpc>
            </a:pPr>
          </a:p>
        </p:txBody>
      </p:sp>
      <p:sp>
        <p:nvSpPr>
          <p:cNvPr name="TextBox 8" id="8"/>
          <p:cNvSpPr txBox="true"/>
          <p:nvPr/>
        </p:nvSpPr>
        <p:spPr>
          <a:xfrm rot="0">
            <a:off x="0" y="7092026"/>
            <a:ext cx="18288000" cy="1780540"/>
          </a:xfrm>
          <a:prstGeom prst="rect">
            <a:avLst/>
          </a:prstGeom>
        </p:spPr>
        <p:txBody>
          <a:bodyPr anchor="t" rtlCol="false" tIns="0" lIns="0" bIns="0" rIns="0">
            <a:spAutoFit/>
          </a:bodyPr>
          <a:lstStyle/>
          <a:p>
            <a:pPr algn="ctr">
              <a:lnSpc>
                <a:spcPts val="4759"/>
              </a:lnSpc>
            </a:pPr>
            <a:r>
              <a:rPr lang="en-US" sz="3399">
                <a:solidFill>
                  <a:srgbClr val="000000"/>
                </a:solidFill>
                <a:latin typeface="Canva Sans"/>
                <a:ea typeface="Canva Sans"/>
                <a:cs typeface="Canva Sans"/>
                <a:sym typeface="Canva Sans"/>
              </a:rPr>
              <a:t>"From</a:t>
            </a:r>
            <a:r>
              <a:rPr lang="en-US" sz="3399">
                <a:solidFill>
                  <a:srgbClr val="000000"/>
                </a:solidFill>
                <a:latin typeface="Canva Sans"/>
                <a:ea typeface="Canva Sans"/>
                <a:cs typeface="Canva Sans"/>
                <a:sym typeface="Canva Sans"/>
              </a:rPr>
              <a:t> Collection to Circularity" – Moving beyond mere waste collection optimization to creating a closed-loop material ecosystem where waste is minimized, resources are maximally recovered, and environmental impact is continuously reduced.</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2534307" y="933450"/>
            <a:ext cx="10114241" cy="887095"/>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Propose</a:t>
            </a:r>
            <a:r>
              <a:rPr lang="en-US" b="true" sz="5199">
                <a:solidFill>
                  <a:srgbClr val="000000"/>
                </a:solidFill>
                <a:latin typeface="Canva Sans Bold"/>
                <a:ea typeface="Canva Sans Bold"/>
                <a:cs typeface="Canva Sans Bold"/>
                <a:sym typeface="Canva Sans Bold"/>
              </a:rPr>
              <a:t>d Tools &amp; Technologies:</a:t>
            </a:r>
          </a:p>
        </p:txBody>
      </p:sp>
      <p:sp>
        <p:nvSpPr>
          <p:cNvPr name="TextBox 4" id="4"/>
          <p:cNvSpPr txBox="true"/>
          <p:nvPr/>
        </p:nvSpPr>
        <p:spPr>
          <a:xfrm rot="0">
            <a:off x="676187" y="2385625"/>
            <a:ext cx="6414373" cy="2980690"/>
          </a:xfrm>
          <a:prstGeom prst="rect">
            <a:avLst/>
          </a:prstGeom>
        </p:spPr>
        <p:txBody>
          <a:bodyPr anchor="t" rtlCol="false" tIns="0" lIns="0" bIns="0" rIns="0">
            <a:spAutoFit/>
          </a:bodyPr>
          <a:lstStyle/>
          <a:p>
            <a:pPr algn="just">
              <a:lnSpc>
                <a:spcPts val="4759"/>
              </a:lnSpc>
            </a:pPr>
            <a:r>
              <a:rPr lang="en-US" sz="3399" b="true">
                <a:solidFill>
                  <a:srgbClr val="000000"/>
                </a:solidFill>
                <a:latin typeface="Canva Sans Medium"/>
                <a:ea typeface="Canva Sans Medium"/>
                <a:cs typeface="Canva Sans Medium"/>
                <a:sym typeface="Canva Sans Medium"/>
              </a:rPr>
              <a:t>1.Smart Bins/IoT Sensors</a:t>
            </a:r>
          </a:p>
          <a:p>
            <a:pPr algn="just">
              <a:lnSpc>
                <a:spcPts val="4759"/>
              </a:lnSpc>
            </a:pPr>
            <a:r>
              <a:rPr lang="en-US" sz="3399" b="true">
                <a:solidFill>
                  <a:srgbClr val="000000"/>
                </a:solidFill>
                <a:latin typeface="Canva Sans Medium"/>
                <a:ea typeface="Canva Sans Medium"/>
                <a:cs typeface="Canva Sans Medium"/>
                <a:sym typeface="Canva Sans Medium"/>
              </a:rPr>
              <a:t>2.RFID Tags</a:t>
            </a:r>
          </a:p>
          <a:p>
            <a:pPr algn="just">
              <a:lnSpc>
                <a:spcPts val="4759"/>
              </a:lnSpc>
            </a:pPr>
            <a:r>
              <a:rPr lang="en-US" sz="3399" b="true">
                <a:solidFill>
                  <a:srgbClr val="000000"/>
                </a:solidFill>
                <a:latin typeface="Canva Sans Medium"/>
                <a:ea typeface="Canva Sans Medium"/>
                <a:cs typeface="Canva Sans Medium"/>
                <a:sym typeface="Canva Sans Medium"/>
              </a:rPr>
              <a:t>3.Route Optimization Software</a:t>
            </a:r>
          </a:p>
          <a:p>
            <a:pPr algn="just">
              <a:lnSpc>
                <a:spcPts val="4759"/>
              </a:lnSpc>
            </a:pPr>
            <a:r>
              <a:rPr lang="en-US" sz="3399" b="true">
                <a:solidFill>
                  <a:srgbClr val="000000"/>
                </a:solidFill>
                <a:latin typeface="Canva Sans Medium"/>
                <a:ea typeface="Canva Sans Medium"/>
                <a:cs typeface="Canva Sans Medium"/>
                <a:sym typeface="Canva Sans Medium"/>
              </a:rPr>
              <a:t>4.Fleet Management Systems</a:t>
            </a:r>
          </a:p>
          <a:p>
            <a:pPr algn="just">
              <a:lnSpc>
                <a:spcPts val="4759"/>
              </a:lnSpc>
            </a:pPr>
            <a:r>
              <a:rPr lang="en-US" sz="3399" b="true">
                <a:solidFill>
                  <a:srgbClr val="000000"/>
                </a:solidFill>
                <a:latin typeface="Canva Sans Medium"/>
                <a:ea typeface="Canva Sans Medium"/>
                <a:cs typeface="Canva Sans Medium"/>
                <a:sym typeface="Canva Sans Medium"/>
              </a:rPr>
              <a:t>5.Python (scikit-learn)</a:t>
            </a:r>
          </a:p>
        </p:txBody>
      </p:sp>
      <p:sp>
        <p:nvSpPr>
          <p:cNvPr name="TextBox 5" id="5"/>
          <p:cNvSpPr txBox="true"/>
          <p:nvPr/>
        </p:nvSpPr>
        <p:spPr>
          <a:xfrm rot="0">
            <a:off x="501820" y="5271065"/>
            <a:ext cx="6763108" cy="887095"/>
          </a:xfrm>
          <a:prstGeom prst="rect">
            <a:avLst/>
          </a:prstGeom>
        </p:spPr>
        <p:txBody>
          <a:bodyPr anchor="t" rtlCol="false" tIns="0" lIns="0" bIns="0" rIns="0">
            <a:spAutoFit/>
          </a:bodyPr>
          <a:lstStyle/>
          <a:p>
            <a:pPr algn="ctr">
              <a:lnSpc>
                <a:spcPts val="7279"/>
              </a:lnSpc>
            </a:pPr>
            <a:r>
              <a:rPr lang="en-US" sz="5199" b="true">
                <a:solidFill>
                  <a:srgbClr val="000000"/>
                </a:solidFill>
                <a:latin typeface="Canva Sans Bold"/>
                <a:ea typeface="Canva Sans Bold"/>
                <a:cs typeface="Canva Sans Bold"/>
                <a:sym typeface="Canva Sans Bold"/>
              </a:rPr>
              <a:t>Tools for the System:</a:t>
            </a:r>
          </a:p>
        </p:txBody>
      </p:sp>
      <p:sp>
        <p:nvSpPr>
          <p:cNvPr name="TextBox 6" id="6"/>
          <p:cNvSpPr txBox="true"/>
          <p:nvPr/>
        </p:nvSpPr>
        <p:spPr>
          <a:xfrm rot="0">
            <a:off x="676187" y="6372302"/>
            <a:ext cx="7756628" cy="2980690"/>
          </a:xfrm>
          <a:prstGeom prst="rect">
            <a:avLst/>
          </a:prstGeom>
        </p:spPr>
        <p:txBody>
          <a:bodyPr anchor="t" rtlCol="false" tIns="0" lIns="0" bIns="0" rIns="0">
            <a:spAutoFit/>
          </a:bodyPr>
          <a:lstStyle/>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Python 3.9+</a:t>
            </a:r>
          </a:p>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Jupyter Notebook</a:t>
            </a:r>
          </a:p>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FastAPI/Flask</a:t>
            </a:r>
          </a:p>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PostgreSQL</a:t>
            </a:r>
          </a:p>
          <a:p>
            <a:pPr algn="l" marL="734059" indent="-367030" lvl="1">
              <a:lnSpc>
                <a:spcPts val="4759"/>
              </a:lnSpc>
              <a:buFont typeface="Arial"/>
              <a:buChar char="•"/>
            </a:pPr>
            <a:r>
              <a:rPr lang="en-US" b="true" sz="3399">
                <a:solidFill>
                  <a:srgbClr val="000000"/>
                </a:solidFill>
                <a:latin typeface="Canva Sans Medium"/>
                <a:ea typeface="Canva Sans Medium"/>
                <a:cs typeface="Canva Sans Medium"/>
                <a:sym typeface="Canva Sans Medium"/>
              </a:rPr>
              <a:t>Git/GitHub</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01003"/>
            <a:ext cx="2534307" cy="1855394"/>
          </a:xfrm>
          <a:custGeom>
            <a:avLst/>
            <a:gdLst/>
            <a:ahLst/>
            <a:cxnLst/>
            <a:rect r="r" b="b" t="t" l="l"/>
            <a:pathLst>
              <a:path h="1855394" w="2534307">
                <a:moveTo>
                  <a:pt x="0" y="0"/>
                </a:moveTo>
                <a:lnTo>
                  <a:pt x="2534307" y="0"/>
                </a:lnTo>
                <a:lnTo>
                  <a:pt x="2534307" y="1855394"/>
                </a:lnTo>
                <a:lnTo>
                  <a:pt x="0" y="1855394"/>
                </a:lnTo>
                <a:lnTo>
                  <a:pt x="0" y="0"/>
                </a:lnTo>
                <a:close/>
              </a:path>
            </a:pathLst>
          </a:custGeom>
          <a:blipFill>
            <a:blip r:embed="rId2"/>
            <a:stretch>
              <a:fillRect l="0" t="-17704" r="-93" b="-17842"/>
            </a:stretch>
          </a:blipFill>
        </p:spPr>
      </p:sp>
      <p:sp>
        <p:nvSpPr>
          <p:cNvPr name="TextBox 3" id="3"/>
          <p:cNvSpPr txBox="true"/>
          <p:nvPr/>
        </p:nvSpPr>
        <p:spPr>
          <a:xfrm rot="0">
            <a:off x="2852788" y="389853"/>
            <a:ext cx="6713101" cy="1566544"/>
          </a:xfrm>
          <a:prstGeom prst="rect">
            <a:avLst/>
          </a:prstGeom>
        </p:spPr>
        <p:txBody>
          <a:bodyPr anchor="t" rtlCol="false" tIns="0" lIns="0" bIns="0" rIns="0">
            <a:spAutoFit/>
          </a:bodyPr>
          <a:lstStyle/>
          <a:p>
            <a:pPr algn="ctr">
              <a:lnSpc>
                <a:spcPts val="12880"/>
              </a:lnSpc>
            </a:pPr>
            <a:r>
              <a:rPr lang="en-US" sz="9200" b="true">
                <a:solidFill>
                  <a:srgbClr val="000000"/>
                </a:solidFill>
                <a:latin typeface="Canva Sans Bold"/>
                <a:ea typeface="Canva Sans Bold"/>
                <a:cs typeface="Canva Sans Bold"/>
                <a:sym typeface="Canva Sans Bold"/>
              </a:rPr>
              <a:t>Refer</a:t>
            </a:r>
            <a:r>
              <a:rPr lang="en-US" b="true" sz="9200">
                <a:solidFill>
                  <a:srgbClr val="000000"/>
                </a:solidFill>
                <a:latin typeface="Canva Sans Bold"/>
                <a:ea typeface="Canva Sans Bold"/>
                <a:cs typeface="Canva Sans Bold"/>
                <a:sym typeface="Canva Sans Bold"/>
              </a:rPr>
              <a:t>ences:</a:t>
            </a:r>
          </a:p>
        </p:txBody>
      </p:sp>
      <p:sp>
        <p:nvSpPr>
          <p:cNvPr name="TextBox 4" id="4"/>
          <p:cNvSpPr txBox="true"/>
          <p:nvPr/>
        </p:nvSpPr>
        <p:spPr>
          <a:xfrm rot="0">
            <a:off x="1028700" y="2669924"/>
            <a:ext cx="15112770" cy="7181214"/>
          </a:xfrm>
          <a:prstGeom prst="rect">
            <a:avLst/>
          </a:prstGeom>
        </p:spPr>
        <p:txBody>
          <a:bodyPr anchor="t" rtlCol="false" tIns="0" lIns="0" bIns="0" rIns="0">
            <a:spAutoFit/>
          </a:bodyPr>
          <a:lstStyle/>
          <a:p>
            <a:pPr algn="just" marL="734069" indent="-367035" lvl="1">
              <a:lnSpc>
                <a:spcPts val="4760"/>
              </a:lnSpc>
              <a:buFont typeface="Arial"/>
              <a:buChar char="•"/>
            </a:pPr>
            <a:r>
              <a:rPr lang="en-US" sz="3400">
                <a:solidFill>
                  <a:srgbClr val="000000"/>
                </a:solidFill>
                <a:latin typeface="Canva Sans"/>
                <a:ea typeface="Canva Sans"/>
                <a:cs typeface="Canva Sans"/>
                <a:sym typeface="Canva Sans"/>
              </a:rPr>
              <a:t>Marrone, M., Piscitelli, M. S., &amp; Capozzoli, </a:t>
            </a:r>
            <a:r>
              <a:rPr lang="en-US" sz="3400">
                <a:solidFill>
                  <a:srgbClr val="000000"/>
                </a:solidFill>
                <a:latin typeface="Canva Sans"/>
                <a:ea typeface="Canva Sans"/>
                <a:cs typeface="Canva Sans"/>
                <a:sym typeface="Canva Sans"/>
              </a:rPr>
              <a:t>A. (2023). Data-driven approaches for urban waste prediction</a:t>
            </a:r>
          </a:p>
          <a:p>
            <a:pPr algn="just" marL="734069" indent="-367035" lvl="1">
              <a:lnSpc>
                <a:spcPts val="4760"/>
              </a:lnSpc>
              <a:buFont typeface="Arial"/>
              <a:buChar char="•"/>
            </a:pPr>
            <a:r>
              <a:rPr lang="en-US" sz="3400">
                <a:solidFill>
                  <a:srgbClr val="000000"/>
                </a:solidFill>
                <a:latin typeface="Canva Sans"/>
                <a:ea typeface="Canva Sans"/>
                <a:cs typeface="Canva Sans"/>
                <a:sym typeface="Canva Sans"/>
              </a:rPr>
              <a:t>Nguyen, T. T., et al. (2021). Application of machine learning in solid waste management</a:t>
            </a:r>
          </a:p>
          <a:p>
            <a:pPr algn="just" marL="734069" indent="-367035" lvl="1">
              <a:lnSpc>
                <a:spcPts val="4760"/>
              </a:lnSpc>
              <a:buFont typeface="Arial"/>
              <a:buChar char="•"/>
            </a:pPr>
            <a:r>
              <a:rPr lang="en-US" sz="3400">
                <a:solidFill>
                  <a:srgbClr val="000000"/>
                </a:solidFill>
                <a:latin typeface="Canva Sans"/>
                <a:ea typeface="Canva Sans"/>
                <a:cs typeface="Canva Sans"/>
                <a:sym typeface="Canva Sans"/>
              </a:rPr>
              <a:t>Shi, Y., Wang, H., &amp; Bai, L. (2021). A hybrid model based on convolutional neural network and long short-term memory for municipal solid waste generation prediction</a:t>
            </a:r>
          </a:p>
          <a:p>
            <a:pPr algn="just" marL="734069" indent="-367035" lvl="1">
              <a:lnSpc>
                <a:spcPts val="4760"/>
              </a:lnSpc>
              <a:buFont typeface="Arial"/>
              <a:buChar char="•"/>
            </a:pPr>
            <a:r>
              <a:rPr lang="en-US" sz="3400">
                <a:solidFill>
                  <a:srgbClr val="000000"/>
                </a:solidFill>
                <a:latin typeface="Canva Sans"/>
                <a:ea typeface="Canva Sans"/>
                <a:cs typeface="Canva Sans"/>
                <a:sym typeface="Canva Sans"/>
              </a:rPr>
              <a:t>Hannan, M. A., et al. (2021). Intelligent systems for solid waste bin state detection and collection optimization</a:t>
            </a:r>
          </a:p>
          <a:p>
            <a:pPr algn="just" marL="734069" indent="-367035" lvl="1">
              <a:lnSpc>
                <a:spcPts val="4760"/>
              </a:lnSpc>
              <a:buFont typeface="Arial"/>
              <a:buChar char="•"/>
            </a:pPr>
            <a:r>
              <a:rPr lang="en-US" sz="3400">
                <a:solidFill>
                  <a:srgbClr val="000000"/>
                </a:solidFill>
                <a:latin typeface="Canva Sans"/>
                <a:ea typeface="Canva Sans"/>
                <a:cs typeface="Canva Sans"/>
                <a:sym typeface="Canva Sans"/>
              </a:rPr>
              <a:t>Meng, F., &amp; Liu, G. (2022). A digital twin-driven approach for dynamic scheduling of municipal solid waste collection</a:t>
            </a:r>
          </a:p>
          <a:p>
            <a:pPr algn="just">
              <a:lnSpc>
                <a:spcPts val="4760"/>
              </a:lnSpc>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DAG_PnlX78Y</dc:identifier>
  <dcterms:modified xsi:type="dcterms:W3CDTF">2011-08-01T06:04:30Z</dcterms:modified>
  <cp:revision>1</cp:revision>
  <dc:title>Urban Waste prediction and recycling optimization system</dc:title>
</cp:coreProperties>
</file>